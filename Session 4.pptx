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g0BGUFnlwV2fInLiakLgy2XJD0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customschemas.google.com/relationships/presentationmetadata" Target="meta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open Session 4 as a fresh section with no long intro. Key points: welcome back; in Sessions 1-3 you learned Python's grammar — today you start thinking like a data analyst: bundle data with behaviour (OOP), pick up professional tools, and meet NumPy &amp; Pandas. Time: ~1 min. Notebook: none. Classroom question: 'In one word, what was the hardest part of Session 3?' Transition: a 60-second recap, then straight into why OOP exists.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reactivate Sessions 1-3 in under a minute and take a homework pulse — do NOT re-teach. Key points: you have variables, collections, decisions, loops and functions; today you organise all of it. Quick poll on who refactored MP2 / pushed to GitHub. Time: ~2 min. Notebook: none. Classroom question: 'Who pushed their Session 3 work to GitHub?' Transition: so why do we need a whole new way to organise code?</a:t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show today's destination in one glance. Key points: six capabilities from 'explain OOP' to 'load a CSV into a DataFrame'; each maps to a chapter and a live-coding block. Frame as a checklist we tick together. Time: ~2 min. Notebook: 'What you'll be able to do by the end of today'. Classroom question: 'Which of these have you heard of before today?' Transition: start with the why — why bundle data and behaviour together at all?</a:t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motivate OOP by feeling the pain of procedural code first. Key points: so far data (dicts/variables) lived apart from the functions acting on it; with two schemes that's fine, with 500 it drifts — misspell a key and it crashes later; OOP bundles data AND its behaviour into one unit called an object. Walk the two panels aloud. Time: ~4 min. Notebook: Section 2 (Why OOP). Discussion question: 'Where in MP2 did you pass the same dictionary into several functions?' Transition: meet the blueprint and the object — classes.</a:t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open the OOP chapter. Key points: this block is about modelling real things as classes and objects; no tools yet, just the core idea. Time: ~30 sec. Notebook: none. Transition: the blueprint vs the object.</a:t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the blueprint-vs-instance distinction. Key points: a class is a blueprint written once; an object (instance) is a real thing built from it with ClassName() — parentheses required; two objects from one class are still separate (different memory addresses). Use the cookie-cutter/blueprint metaphor. Time: ~5 min. Notebook: Section 3 (Classes and Objects). Classroom question: 'Is GovernmentScheme the blueprint or the object? What about pmkisan?' Transition: right now objects are empty — let's give each one its own data with __init__.</a:t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__init__ and self as the way each object gets its own data. Key points: __init__ ('dunder init') runs automatically the moment you create an object; self means 'this particular object'; self.name = name attaches an attribute to THIS object; you never pass self yourself — Python fills it in. Walk the two-scheme example. Time: ~5 min. Notebook: Section 4 (Constructors). Classroom question: 'When pmkisan is built, what is self?' Transition: attributes are what an object HAS — now let's give it things it can DO.</a:t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methods as the behaviour of an object. Key points: an attribute is what an object HAS (name, budget); a method is what it DOES (describe, launch, spend); methods take self first so they see the object's own data; call them with parentheses; methods can read AND change attributes (the budget spend example). This is the core OOP payoff. Time: ~5 min. Notebook: Section 5 (Methods). Classroom question: 'Why does describe() never need us to pass in the name?' Transition: predict what a method call prints before we run it.</a:t>
            </a:r>
            <a:endParaRPr/>
          </a:p>
        </p:txBody>
      </p:sp>
      <p:sp>
        <p:nvSpPr>
          <p:cNvPr id="186" name="Google Shape;1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active retrieval on objects being separate. Key points: read the code aloud; give 30 seconds; the two ElectionResult objects are independent, so changing seat_one never touches seat_two; answer is 'Party C Party B'. Take answers from the room before revealing. Time: ~3 min. Notebook: Section 4 (Prediction Question 1). Classroom question: 'Why didn't seat_two change?' Transition: to Colab for hands-on OOP.</a:t>
            </a:r>
            <a:endParaRPr/>
          </a:p>
        </p:txBody>
      </p:sp>
      <p:sp>
        <p:nvSpPr>
          <p:cNvPr id="211" name="Google Shape;21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show refactoring — same behaviour, cleaner structure. Key points: refactor = rewrite cleaner without changing what it does; take dict + loose functions and fold them into one class; the win is readability and maintainability; when the same dictionary is passed into several functions, that's a strong hint it wants to be a class. This is exactly the MP2 homework. Time: ~4 min. Notebook: Section 7 (Refactoring). Discussion question: 'Which part of MP2 is begging to become a class?' Transition: enough slides — let's build classes live in the notebook.</a:t>
            </a:r>
            <a:endParaRPr/>
          </a:p>
        </p:txBody>
      </p:sp>
      <p:sp>
        <p:nvSpPr>
          <p:cNvPr id="232" name="Google Shape;23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switch to Colab for hands-on OOP. Key points: stop presenting; open the follow-along notebook at the OOP sections; build the empty class, add __init__, add methods, then the guided practice (Minister, ElectionResult, CensusRecord, DistrictData), and finish with the dict→class refactor. Students code along and predict each output. Demo cue: Notebook Sections 3–7. Time: ~30 sec setup, ~12 min coding. Classroom question: 'Predict each print before you run it.' Transition: back to slides — the professional tools around your code.</a:t>
            </a:r>
            <a:endParaRPr/>
          </a:p>
        </p:txBody>
      </p:sp>
      <p:sp>
        <p:nvSpPr>
          <p:cNvPr id="252" name="Google Shape;25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open the tooling chapter. Key points: this block is about the tools that surround your code — installing libraries, isolating projects, working in notebooks, and version control; less new syntax, more professional habits. Time: ~30 sec. Notebook: none. Transition: start with pip and packages.</a:t>
            </a:r>
            <a:endParaRPr/>
          </a:p>
        </p:txBody>
      </p:sp>
      <p:sp>
        <p:nvSpPr>
          <p:cNvPr id="271" name="Google Shape;27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the difference between standard-library and third-party packages, and how pip installs them. Key points: a package is pre-written code someone shared; math/random/datetime ship with Python; NumPy and Pandas must be installed with pip; requirements.txt is your project's shopping list. Time: ~4 min. Notebook: Section 8 (pip). Classroom question: 'Sort these: math, numpy, random, pandas — which need pip?' Common mistake: writing pip install as a code line — it's a terminal command (or !pip in a notebook). Transition: where do those installs actually go? Virtual environments.</a:t>
            </a:r>
            <a:endParaRPr/>
          </a:p>
        </p:txBody>
      </p:sp>
      <p:sp>
        <p:nvSpPr>
          <p:cNvPr id="284" name="Google Shape;28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two habits together — isolating a project with a virtual environment, and how a notebook's kernel remembers state. Key points: a venv is a private toolbox per project so package versions don't fight; you must ACTIVATE it (look for the (venv) prompt); a notebook mixes markdown + code cells; the kernel remembers every variable you ran until you restart; 'Restart &amp; Run All' is the honesty test for a reproducible notebook. Time: ~4 min. Notebook: Sections 9 &amp; 10. Classroom question: 'If a cell works but a fresh kernel breaks it, what went wrong?' Transition: one more tool — version control with Git &amp; GitHub.</a:t>
            </a:r>
            <a:endParaRPr/>
          </a:p>
        </p:txBody>
      </p:sp>
      <p:sp>
        <p:nvSpPr>
          <p:cNvPr id="316" name="Google Shape;31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version control as a save-point system. Key points: Git tracks your files' history on your computer; GitHub stores it online to back up and share; it ends the report_final_v2_FINAL.py chaos; the everyday flow is always add → commit → push; write commit messages a human can read months later. Common mistake: forgetting git add before commit. Time: ~4 min. Notebook: Section 11 (Git &amp; GitHub). Classroom question: 'Put these in order: commit, push, add.' Transition: let's confirm our tools actually work — a quick setup check in Colab.</a:t>
            </a:r>
            <a:endParaRPr/>
          </a:p>
        </p:txBody>
      </p:sp>
      <p:sp>
        <p:nvSpPr>
          <p:cNvPr id="341" name="Google Shape;34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hands-on confirmation that the tools work before the library chapters. Key points: open the notebook at the packages section; import math and random from the standard library; then import numpy and pandas and print their versions to confirm they're installed; if a version prints, the rest of the day will run. Demo cue: Notebook Section 8 (import + versions). Time: ~30 sec setup, ~5 min coding. Classroom question: 'If import pandas errors, what's the fix?' Transition: back to slides — meet NumPy.</a:t>
            </a:r>
            <a:endParaRPr/>
          </a:p>
        </p:txBody>
      </p:sp>
      <p:sp>
        <p:nvSpPr>
          <p:cNvPr id="372" name="Google Shape;37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open the NumPy chapter. Key points: this block is about the array — a container built for fast maths on many numbers at once; the foundation under every data library. Time: ~30 sec. Notebook: none. Transition: what an array is and why it's fast.</a:t>
            </a:r>
            <a:endParaRPr/>
          </a:p>
        </p:txBody>
      </p:sp>
      <p:sp>
        <p:nvSpPr>
          <p:cNvPr id="391" name="Google Shape;39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the array and vectorization. Key points: np.array turns a list into an array; the universal import is import numpy as np; the magic is vectorized maths — array * 2 doubles EVERY element with no loop, list * 2 just repeats the list; census and budget data have thousands of numbers, so this speed matters. Time: ~5 min. Notebook: Section 12 (Intro to NumPy). Classroom question: 'What does [100, 200] * 2 give for a list vs an array?' Transition: arrays also have a shape — let's build and reshape them.</a:t>
            </a:r>
            <a:endParaRPr/>
          </a:p>
        </p:txBody>
      </p:sp>
      <p:sp>
        <p:nvSpPr>
          <p:cNvPr id="404" name="Google Shape;40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2D arrays and the four everyday constructors. Key points: read shape as (rows, columns); a list of lists makes a 2D grid; zeros() and ones() make placeholder grids; arange() is range() that returns an array (stop is exclusive); reshape() rearranges the same numbers into a new layout — the counts must match (12 fits 4×3, not 4×4). Time: ~5 min. Notebook: Section 13 (NumPy Practice). Classroom question: 'Why does reshape(4, 4) fail on twelve numbers?' Transition: predict a NumPy result before we run it.</a:t>
            </a:r>
            <a:endParaRPr/>
          </a:p>
        </p:txBody>
      </p:sp>
      <p:sp>
        <p:nvSpPr>
          <p:cNvPr id="428" name="Google Shape;42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prediction drill on vectorized addition. Key points: give 30 seconds; NumPy adds 5 to every element and prints array-style (no commas); answer is [60 67 75]. Contrast with what a plain list would do (error on + 5). Time: ~3 min. Notebook: Section 12 (Prediction Question 4). Classroom question: 'How would this look if turnout were a plain list?' Transition: to Colab for the NumPy section.</a:t>
            </a:r>
            <a:endParaRPr/>
          </a:p>
        </p:txBody>
      </p:sp>
      <p:sp>
        <p:nvSpPr>
          <p:cNvPr id="458" name="Google Shape;45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hands-on NumPy in Colab. Key points: open the notebook at the NumPy sections; build a 1D array and inspect dtype/shape/ndim/size; run vectorized maths; build 2D grids with zeros/ones/arange and reshape; make reproducible randoms with default_rng(seed=...); finish with the mini exercises. Demo cue: Notebook Sections 12–13. Time: ~30 sec setup, ~10 min coding. Classroom question: 'Predict each array before you run it.' Transition: back to slides — from raw numbers to real tables with Pandas.</a:t>
            </a:r>
            <a:endParaRPr/>
          </a:p>
        </p:txBody>
      </p:sp>
      <p:sp>
        <p:nvSpPr>
          <p:cNvPr id="479" name="Google Shape;47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open the Pandas chapter. Key points: this block is about the DataFrame — a spreadsheet inside Python; where every census table, scheme list and budget sheet you analyse will live. Time: ~30 sec. Notebook: none. Transition: the anatomy of a DataFrame.</a:t>
            </a:r>
            <a:endParaRPr/>
          </a:p>
        </p:txBody>
      </p:sp>
      <p:sp>
        <p:nvSpPr>
          <p:cNvPr id="498" name="Google Shape;49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the DataFrame's three parts. Key points: a DataFrame is a spreadsheet in Python — named columns, rows, and an automatic index (0,1,2…); the universal import is import pandas as pd; one column pulled out is a Series. Point at columns, rows, and the bold index in the table. Time: ~4 min. Notebook: Section 14 (Intro to Pandas). Classroom question: 'What's the difference between a DataFrame and a Series?' Transition: real data doesn't come typed by hand — it comes as a CSV.</a:t>
            </a:r>
            <a:endParaRPr/>
          </a:p>
        </p:txBody>
      </p:sp>
      <p:sp>
        <p:nvSpPr>
          <p:cNvPr id="511" name="Google Shape;51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loading a CSV and the first five moves on any new dataset. Key points: a CSV is plain-text tabular data; pd.read_csv() loads it into a DataFrame in one line; then head()/tail() preview rows, shape gives (rows, columns), columns lists the names, info() is a health check, describe() gives quick stats for numeric columns. Make head/info/describe a reflex the moment data lands. Note shape and columns are attributes (no parentheses). Time: ~5 min. Notebook: Section 15 (Reading CSV Files). Classroom question: 'Which of these need parentheses and which don't?' Transition: now let's actually answer questions with it.</a:t>
            </a:r>
            <a:endParaRPr/>
          </a:p>
        </p:txBody>
      </p:sp>
      <p:sp>
        <p:nvSpPr>
          <p:cNvPr id="556" name="Google Shape;55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the everyday analyst questions — count, average, highest/lowest, and selecting columns. Key points: pick a column then call a stat method — mean/max/min summarise all rows and Pandas does the loop for you; one column with single brackets is a Series, multiple columns need a LIST inside double brackets and return a smaller DataFrame. Common mistake: single brackets for multiple columns errors. Time: ~5 min. Notebook: Section 16 (Pandas Practice). Classroom question: 'Which district has the highest budget — how would you find it?' Transition: predict a Pandas result before we run it.</a:t>
            </a:r>
            <a:endParaRPr/>
          </a:p>
        </p:txBody>
      </p:sp>
      <p:sp>
        <p:nvSpPr>
          <p:cNvPr id="589" name="Google Shape;58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prediction drill on the shape attribute. Key points: give 30 seconds; df has 10 rows and 5 columns; shape returns the tuple (10, 5) and takes no parentheses because it's an attribute; a common trap is writing df.shape(). Take answers before revealing. Time: ~3 min. Notebook: Section 15 (Prediction Question 5). Classroom question: 'Why is there no () after shape?' Transition: to Colab for the Pandas section.</a:t>
            </a:r>
            <a:endParaRPr/>
          </a:p>
        </p:txBody>
      </p:sp>
      <p:sp>
        <p:nvSpPr>
          <p:cNvPr id="611" name="Google Shape;61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hands-on Pandas in Colab. Key points: open the notebook at the Pandas sections; build a DataFrame by hand, then create districts.csv and read it with read_csv; run head/tail/shape/columns/info/describe; compute mean/max/min on a column; select single vs multiple columns; run the NumPy+Pandas challenge (to_numpy). Demo cue: Notebook Sections 14–16. Time: ~30 sec setup, ~12 min coding. Classroom question: 'Predict head() before you run it.' Transition: back to slides — the two halves of today shake hands.</a:t>
            </a:r>
            <a:endParaRPr/>
          </a:p>
        </p:txBody>
      </p:sp>
      <p:sp>
        <p:nvSpPr>
          <p:cNvPr id="632" name="Google Shape;63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connect the two halves of today. Key points: real systems create objects as they run, then collect many into a DataFrame to summarise; create several DistrictData objects, turn each into a dictionary of its attributes, build a DataFrame from that list — each object becomes one row — then analyse with mean/describe. OOP builds and organises; Pandas analyses many at once. Time: ~4 min. Notebook: Section 17 (Instructor Challenge). Classroom question: 'What's the bridge between an object and a DataFrame row?' Transition: your homework brings all of this together.</a:t>
            </a:r>
            <a:endParaRPr/>
          </a:p>
        </p:txBody>
      </p:sp>
      <p:sp>
        <p:nvSpPr>
          <p:cNvPr id="651" name="Google Shape;65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8" name="Google Shape;67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pre-empt the errors students will actually hit today. Key points: walk each quickly — these map directly to the notebook's Common Mistake and Debugging callouts; reassure that every one is normal and quick to fix. Time: ~4 min. Notebook: Debugging Exercises 1-3 and Common Mistake callouts throughout. Classroom question: 'Which of these have you already hit today?' Transition: a quick quiz to lock it in.</a:t>
            </a:r>
            <a:endParaRPr/>
          </a:p>
        </p:txBody>
      </p:sp>
      <p:sp>
        <p:nvSpPr>
          <p:cNvPr id="679" name="Google Shape;679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3" name="Google Shape;71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quick retrieval check across all four chapters. Key points: read each aloud, let the room answer, then reveal; these are drawn straight from the notebook's end-of-session quiz. Answers: 1-C (__init__), 2-B (this object), 3-C (add→commit→push), 4-B ([140 152 176]), 5-C ((rows, columns)). Time: ~5 min. Notebook: End-of-Session Quiz. Classroom question: use each item. Transition: recap everything, then homework.</a:t>
            </a:r>
            <a:endParaRPr/>
          </a:p>
        </p:txBody>
      </p:sp>
      <p:sp>
        <p:nvSpPr>
          <p:cNvPr id="714" name="Google Shape;714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0" name="Google Shape;74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set clear, doable homework that ties the whole session together. Key points: refactor MP2 into a class (Section 7 shape); install NumPy &amp; Pandas yourself and print versions; load districts.csv into a DataFrame and write two sentences on what you notice; push a tidy Session-4 repo (notebook + csv + README) with clear commit messages. Do it in a fresh notebook and finish with Restart &amp; Run All. Time: ~2 min. Notebook: Section 20 (Homework). Classroom question: 'What dataset will you load for step 3?' Transition: quick recap of everything today.</a:t>
            </a:r>
            <a:endParaRPr/>
          </a:p>
        </p:txBody>
      </p:sp>
      <p:sp>
        <p:nvSpPr>
          <p:cNvPr id="741" name="Google Shape;741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consolidate Session 4 into a memorable checklist. Key points: you organised code around objects, picked up the professional toolkit, and did fast maths with NumPy and real tables with Pandas — and joined the two; that's the leap from writing scripts to doing analysis. Celebrate it. Time: ~2 min. Notebook: Section 19 (Session Recap). Classroom question: 'Which of the four felt most useful for your work?' Transition: a taste of what's next.</a:t>
            </a:r>
            <a:endParaRPr/>
          </a:p>
        </p:txBody>
      </p:sp>
      <p:sp>
        <p:nvSpPr>
          <p:cNvPr id="770" name="Google Shape;770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8" name="Google Shape;79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build curiosity for Session 5 without teaching it. Key points: now that data lives in DataFrames, next we make it talk — filter and group real datasets, spot patterns, and draw your first charts; that's where analysis becomes insight. End on encouragement and remind them to bring their Session-4 repo and MP2 refactor. Time: ~1 min. Notebook: none. Transition: close, thank everyone.</a:t>
            </a:r>
            <a:endParaRPr/>
          </a:p>
        </p:txBody>
      </p:sp>
      <p:sp>
        <p:nvSpPr>
          <p:cNvPr id="799" name="Google Shape;799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13906500" y="-1714500"/>
            <a:ext cx="5905500" cy="5905500"/>
          </a:xfrm>
          <a:prstGeom prst="ellipse">
            <a:avLst/>
          </a:prstGeom>
          <a:solidFill>
            <a:srgbClr val="1F9D57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-1333500" y="7429500"/>
            <a:ext cx="4953000" cy="4953000"/>
          </a:xfrm>
          <a:prstGeom prst="ellipse">
            <a:avLst/>
          </a:prstGeom>
          <a:solidFill>
            <a:srgbClr val="CE4A32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495300"/>
            <a:ext cx="1582936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1047750" y="2188865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APPLIED AI &amp; ANALYTICS LAB · SESSION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47750" y="2779415"/>
            <a:ext cx="14225588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7047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8400"/>
              <a:buFont typeface="Arial"/>
              <a:buNone/>
            </a:pPr>
            <a:r>
              <a:rPr b="1" i="0" lang="en-US" sz="84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Objects, Packages &amp; the Data Stack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47750" y="5294015"/>
            <a:ext cx="1257300" cy="76200"/>
          </a:xfrm>
          <a:prstGeom prst="roundRect">
            <a:avLst>
              <a:gd fmla="val 50000" name="adj"/>
            </a:avLst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047750" y="5675015"/>
            <a:ext cx="11772900" cy="10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90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Bundle data with behaviour, install real tools, and take your first steps with NumPy &amp; Pandas — the day you start working like an analyst.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047750" y="7374235"/>
            <a:ext cx="27196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INSTRUCTOR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047750" y="7767935"/>
            <a:ext cx="27196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Mr. Varunn Kaushik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053582" y="7374235"/>
            <a:ext cx="3520549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FORMAT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053582" y="7767935"/>
            <a:ext cx="3520549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Live workshop · ~2 hours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787482" y="7374235"/>
            <a:ext cx="517108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BUILDS 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787482" y="7767935"/>
            <a:ext cx="5171083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Session 3 · Control Flow &amp; Functions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" name="Google Shape;2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14366677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7060168" y="9674225"/>
            <a:ext cx="256282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QUICK RECAP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Three sessions of grammar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47750" y="2148780"/>
            <a:ext cx="117729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You can already write working programs. Today you learn to </a:t>
            </a:r>
            <a:r>
              <a:rPr b="1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organise </a:t>
            </a: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them and </a:t>
            </a:r>
            <a:r>
              <a:rPr b="1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scale </a:t>
            </a: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them.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47750" y="3317181"/>
            <a:ext cx="4035822" cy="2960985"/>
          </a:xfrm>
          <a:prstGeom prst="roundRect">
            <a:avLst>
              <a:gd fmla="val 6434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1333500" y="4449663"/>
            <a:ext cx="3810754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Data types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333500" y="4837013"/>
            <a:ext cx="3810754" cy="3466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Numbers, strings, booleans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274072" y="3317181"/>
            <a:ext cx="4035921" cy="2960985"/>
          </a:xfrm>
          <a:prstGeom prst="roundRect">
            <a:avLst>
              <a:gd fmla="val 6434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5559822" y="4449663"/>
            <a:ext cx="3810863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Collections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559822" y="4837013"/>
            <a:ext cx="3810863" cy="3466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Lists, tuples, sets &amp; dicts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047750" y="6468666"/>
            <a:ext cx="4035822" cy="2961084"/>
          </a:xfrm>
          <a:prstGeom prst="roundRect">
            <a:avLst>
              <a:gd fmla="val 643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1333500" y="7601248"/>
            <a:ext cx="3810754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Control flow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333500" y="7988598"/>
            <a:ext cx="3810754" cy="3466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if · loops · break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274072" y="6468666"/>
            <a:ext cx="4035921" cy="2961084"/>
          </a:xfrm>
          <a:prstGeom prst="roundRect">
            <a:avLst>
              <a:gd fmla="val 6433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5559822" y="7601248"/>
            <a:ext cx="3810863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Functions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559822" y="7988598"/>
            <a:ext cx="3810863" cy="3466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args · return · scope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9729093" y="3317181"/>
            <a:ext cx="7511157" cy="6112570"/>
          </a:xfrm>
          <a:prstGeom prst="roundRect">
            <a:avLst>
              <a:gd fmla="val 3428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10186293" y="5648325"/>
            <a:ext cx="1638697" cy="368300"/>
          </a:xfrm>
          <a:prstGeom prst="roundRect">
            <a:avLst>
              <a:gd fmla="val 50000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10376793" y="5724525"/>
            <a:ext cx="1333897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QUICK POLL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0186293" y="6245225"/>
            <a:ext cx="6794660" cy="891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Who pushed their </a:t>
            </a:r>
            <a:r>
              <a:rPr b="1" i="0" lang="en-US" sz="24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Session 3 </a:t>
            </a:r>
            <a:r>
              <a:rPr b="0" i="0" lang="en-US" sz="24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work to GitHub? Hands up — or drop a ✓ in the chat.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4320143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7013635" y="9674225"/>
            <a:ext cx="302816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TODAY'S OBJECTIVES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What you'll be able to do today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47750" y="2453580"/>
            <a:ext cx="5232400" cy="3364210"/>
          </a:xfrm>
          <a:prstGeom prst="roundRect">
            <a:avLst>
              <a:gd fmla="val 622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1428750" y="3556397"/>
            <a:ext cx="491744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428750" y="3969147"/>
            <a:ext cx="4604512" cy="7838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847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Explain what OOP is and why it exists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527800" y="2453580"/>
            <a:ext cx="5232400" cy="3364210"/>
          </a:xfrm>
          <a:prstGeom prst="roundRect">
            <a:avLst>
              <a:gd fmla="val 622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6908800" y="3556397"/>
            <a:ext cx="491744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908800" y="3969147"/>
            <a:ext cx="4604512" cy="7838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847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Create classes &amp; objects with __init__ and methods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2007851" y="2453580"/>
            <a:ext cx="5232400" cy="3364210"/>
          </a:xfrm>
          <a:prstGeom prst="roundRect">
            <a:avLst>
              <a:gd fmla="val 622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12388851" y="3556397"/>
            <a:ext cx="491744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2388851" y="3969147"/>
            <a:ext cx="4604512" cy="7838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847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Install packages with pip; work in notebooks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047750" y="6065441"/>
            <a:ext cx="5232400" cy="3364309"/>
          </a:xfrm>
          <a:prstGeom prst="roundRect">
            <a:avLst>
              <a:gd fmla="val 622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1428750" y="7168357"/>
            <a:ext cx="491744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428750" y="7581106"/>
            <a:ext cx="4604512" cy="7838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847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Understand Git &amp; GitHub: add → commit → push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527800" y="6065441"/>
            <a:ext cx="5232400" cy="3364309"/>
          </a:xfrm>
          <a:prstGeom prst="roundRect">
            <a:avLst>
              <a:gd fmla="val 622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6908800" y="7168357"/>
            <a:ext cx="491744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908800" y="7581106"/>
            <a:ext cx="4604512" cy="7838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847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Use NumPy arrays for fast maths on numbers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2007851" y="6065441"/>
            <a:ext cx="5232400" cy="3364309"/>
          </a:xfrm>
          <a:prstGeom prst="roundRect">
            <a:avLst>
              <a:gd fmla="val 6229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12388851" y="7168357"/>
            <a:ext cx="491744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2388851" y="7581106"/>
            <a:ext cx="4604512" cy="7838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8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Load &amp; explore a CSV with a Pandas DataFrame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4315580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7009071" y="9674225"/>
            <a:ext cx="307380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THE WHY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When data and logic drift apart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1047750" y="2110680"/>
            <a:ext cx="13620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Object-Oriented Programming keeps a thing's </a:t>
            </a:r>
            <a:r>
              <a:rPr b="1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data </a:t>
            </a: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and its </a:t>
            </a:r>
            <a:r>
              <a:rPr b="1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behaviour </a:t>
            </a: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together in one unit.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047750" y="2872680"/>
            <a:ext cx="7905750" cy="5566470"/>
          </a:xfrm>
          <a:prstGeom prst="roundRect">
            <a:avLst>
              <a:gd fmla="val 3765" name="adj"/>
            </a:avLst>
          </a:prstGeom>
          <a:solidFill>
            <a:srgbClr val="FB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1047750" y="2872680"/>
            <a:ext cx="57150" cy="5566470"/>
          </a:xfrm>
          <a:prstGeom prst="rect">
            <a:avLst/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1524000" y="3234630"/>
            <a:ext cx="771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Procedural — scattered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524000" y="3615630"/>
            <a:ext cx="7220712" cy="65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4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Data in one place, the functions that act on it in another. Every function must remember the exact keys.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524000" y="6259910"/>
            <a:ext cx="7010400" cy="1817291"/>
          </a:xfrm>
          <a:prstGeom prst="roundRect">
            <a:avLst>
              <a:gd fmla="val 7338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1790700" y="6488510"/>
            <a:ext cx="6687312" cy="13981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scheme = {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"PM-KISAN"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b="0" i="0" sz="157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en-US" sz="157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describe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(scheme): </a:t>
            </a:r>
            <a:endParaRPr b="0" i="0" sz="157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(scheme[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]) </a:t>
            </a:r>
            <a:r>
              <a:rPr b="0" i="0" lang="en-US" sz="1575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typo = crash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9334500" y="2872680"/>
            <a:ext cx="7905750" cy="5566470"/>
          </a:xfrm>
          <a:prstGeom prst="roundRect">
            <a:avLst>
              <a:gd fmla="val 3765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9334500" y="2872680"/>
            <a:ext cx="57150" cy="5566470"/>
          </a:xfrm>
          <a:prstGeom prst="rect">
            <a:avLst/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9810750" y="3234630"/>
            <a:ext cx="771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Object — bundled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9810750" y="3615630"/>
            <a:ext cx="7220712" cy="657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4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One self-contained object holds the data </a:t>
            </a:r>
            <a:r>
              <a:rPr b="1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the actions on it — they stay consistent together.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9810750" y="6599932"/>
            <a:ext cx="7010400" cy="1477268"/>
          </a:xfrm>
          <a:prstGeom prst="roundRect">
            <a:avLst>
              <a:gd fmla="val 9027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10077450" y="6828532"/>
            <a:ext cx="6687312" cy="1058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scheme.name scheme.</a:t>
            </a:r>
            <a:r>
              <a:rPr b="0" i="0" lang="en-US" sz="157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describe 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endParaRPr b="0" i="0" sz="157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scheme.</a:t>
            </a:r>
            <a:r>
              <a:rPr b="0" i="0" lang="en-US" sz="157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meets_target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0" lang="en-US" sz="1575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reads like a sentence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047750" y="8686800"/>
            <a:ext cx="16192500" cy="742950"/>
          </a:xfrm>
          <a:prstGeom prst="roundRect">
            <a:avLst>
              <a:gd fmla="val 20513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1166812" y="8896350"/>
            <a:ext cx="15954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highlight>
                  <a:srgbClr val="0C2E1E"/>
                </a:highlight>
                <a:latin typeface="Arial"/>
                <a:ea typeface="Arial"/>
                <a:cs typeface="Arial"/>
                <a:sym typeface="Arial"/>
              </a:rPr>
              <a:t>OOP organises code around real </a:t>
            </a:r>
            <a:r>
              <a:rPr b="1" i="0" lang="en-US" sz="1950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things </a:t>
            </a:r>
            <a:r>
              <a:rPr b="0" i="0" lang="en-US" sz="1950" u="none" cap="none" strike="noStrike">
                <a:solidFill>
                  <a:srgbClr val="FFFFFF"/>
                </a:solidFill>
                <a:highlight>
                  <a:srgbClr val="0C2E1E"/>
                </a:highlight>
                <a:latin typeface="Arial"/>
                <a:ea typeface="Arial"/>
                <a:cs typeface="Arial"/>
                <a:sym typeface="Arial"/>
              </a:rPr>
              <a:t>— a scheme, a district, an election result.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4312503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7005995" y="9674225"/>
            <a:ext cx="31045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4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12673807" y="3048000"/>
            <a:ext cx="5127863" cy="4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6957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33000"/>
              <a:buFont typeface="Arial"/>
              <a:buNone/>
            </a:pPr>
            <a:r>
              <a:rPr b="1" i="0" lang="en-US" sz="330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047750" y="3823097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CHAPTER 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047750" y="4356497"/>
            <a:ext cx="12573000" cy="9707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48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Objects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047750" y="5613003"/>
            <a:ext cx="941832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Classes, objects, constructors and methods — modelling real things in code.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4311610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7005102" y="9674225"/>
            <a:ext cx="311348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OBJECTS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Blueprint vs. thing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047750" y="2110680"/>
            <a:ext cx="130968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class </a:t>
            </a: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is the template, written once. An </a:t>
            </a:r>
            <a:r>
              <a:rPr b="1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object </a:t>
            </a: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is one thing built from it.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047750" y="4389041"/>
            <a:ext cx="7511058" cy="3486150"/>
          </a:xfrm>
          <a:prstGeom prst="roundRect">
            <a:avLst>
              <a:gd fmla="val 4918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1466850" y="4731941"/>
            <a:ext cx="6898190" cy="2838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3659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b="0" i="0" lang="en-US" sz="18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GovernmentScheme: </a:t>
            </a:r>
            <a:r>
              <a:rPr b="0" i="0" lang="en-US" sz="180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pass</a:t>
            </a:r>
            <a:r>
              <a:rPr b="0" i="0" lang="en-US" sz="180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empty blueprint </a:t>
            </a:r>
            <a:endParaRPr b="0" i="0" sz="1800" u="none" cap="none" strike="noStrike">
              <a:solidFill>
                <a:srgbClr val="9AA79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3659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a = GovernmentScheme() </a:t>
            </a:r>
            <a:endParaRPr b="0" i="0" sz="1800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3659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b = GovernmentScheme() </a:t>
            </a:r>
            <a:endParaRPr b="0" i="0" sz="1800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3659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a and b are two # separate objects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8977908" y="4458990"/>
            <a:ext cx="2458542" cy="723900"/>
          </a:xfrm>
          <a:prstGeom prst="roundRect">
            <a:avLst>
              <a:gd fmla="val 21053" name="adj"/>
            </a:avLst>
          </a:prstGeom>
          <a:solidFill>
            <a:srgbClr val="EAF3EE"/>
          </a:solidFill>
          <a:ln cap="flat" cmpd="sng" w="19050">
            <a:solidFill>
              <a:srgbClr val="1F9D5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9282696" y="4687600"/>
            <a:ext cx="289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class = 1 blueprint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1665050" y="4633615"/>
            <a:ext cx="361950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2179400" y="4528840"/>
            <a:ext cx="978297" cy="584200"/>
          </a:xfrm>
          <a:prstGeom prst="roundRect">
            <a:avLst>
              <a:gd fmla="val 22826" name="adj"/>
            </a:avLst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12388950" y="4700300"/>
            <a:ext cx="978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3271997" y="4528840"/>
            <a:ext cx="978297" cy="584200"/>
          </a:xfrm>
          <a:prstGeom prst="roundRect">
            <a:avLst>
              <a:gd fmla="val 22826" name="adj"/>
            </a:avLst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13481551" y="4700300"/>
            <a:ext cx="883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14364593" y="4528840"/>
            <a:ext cx="978297" cy="584200"/>
          </a:xfrm>
          <a:prstGeom prst="roundRect">
            <a:avLst>
              <a:gd fmla="val 22826" name="adj"/>
            </a:avLst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14574151" y="4700300"/>
            <a:ext cx="7686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8977908" y="5373390"/>
            <a:ext cx="8262342" cy="1164431"/>
          </a:xfrm>
          <a:prstGeom prst="roundRect">
            <a:avLst>
              <a:gd fmla="val 13088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9282708" y="5621040"/>
            <a:ext cx="7882324" cy="7072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28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Build an object with </a:t>
            </a:r>
            <a:r>
              <a:rPr b="0" i="0" lang="en-US" sz="180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ClassName() </a:t>
            </a: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— the parentheses actually construct it.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8977908" y="6728321"/>
            <a:ext cx="8262342" cy="1076920"/>
          </a:xfrm>
          <a:prstGeom prst="roundRect">
            <a:avLst>
              <a:gd fmla="val 14151" name="adj"/>
            </a:avLst>
          </a:prstGeom>
          <a:solidFill>
            <a:srgbClr val="FB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8977908" y="6728321"/>
            <a:ext cx="57150" cy="1076920"/>
          </a:xfrm>
          <a:prstGeom prst="rect">
            <a:avLst/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9339858" y="6956921"/>
            <a:ext cx="7823460" cy="657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46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Common mistake: </a:t>
            </a:r>
            <a:r>
              <a:rPr b="0" i="0" lang="en-US" sz="1725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GovernmentScheme </a:t>
            </a:r>
            <a:r>
              <a:rPr b="0" i="0" lang="en-US" sz="1725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without </a:t>
            </a:r>
            <a:r>
              <a:rPr b="0" i="0" lang="en-US" sz="1725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0" lang="en-US" sz="1725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just renames the blueprint — you get no object.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14308336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17001827" y="9674225"/>
            <a:ext cx="31462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OBJECTS · CONSTRUCTOR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__init__ gives each object its data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1047750" y="2110680"/>
            <a:ext cx="130968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It runs automatically when the object is born. </a:t>
            </a:r>
            <a:r>
              <a:rPr b="0" i="0" lang="en-US" sz="2250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self </a:t>
            </a: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means "this object".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047750" y="4447381"/>
            <a:ext cx="8262243" cy="3369469"/>
          </a:xfrm>
          <a:prstGeom prst="roundRect">
            <a:avLst>
              <a:gd fmla="val 5088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1466850" y="4790281"/>
            <a:ext cx="7671911" cy="27217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4808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b="0" i="0" lang="en-US" sz="17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GovernmentScheme: </a:t>
            </a:r>
            <a:endParaRPr b="0" i="0" sz="172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4808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en-US" sz="172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__init__ </a:t>
            </a:r>
            <a:r>
              <a:rPr b="0" i="0" lang="en-US" sz="17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(self, name, ministry): </a:t>
            </a:r>
            <a:endParaRPr b="0" i="0" sz="172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4808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self.name = name </a:t>
            </a:r>
            <a:endParaRPr b="0" i="0" sz="172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4808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self.ministry = ministry </a:t>
            </a:r>
            <a:endParaRPr b="0" i="0" sz="172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4808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 = GovernmentScheme(</a:t>
            </a:r>
            <a:r>
              <a:rPr b="0" i="0" lang="en-US" sz="172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"PM-KISAN"</a:t>
            </a:r>
            <a:r>
              <a:rPr b="0" i="0" lang="en-US" sz="17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72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"Agriculture"</a:t>
            </a:r>
            <a:r>
              <a:rPr b="0" i="0" lang="en-US" sz="17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72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7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(s.name) </a:t>
            </a:r>
            <a:r>
              <a:rPr b="0" i="0" lang="en-US" sz="1725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PM-KISAN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9729093" y="3929460"/>
            <a:ext cx="7511157" cy="1055291"/>
          </a:xfrm>
          <a:prstGeom prst="roundRect">
            <a:avLst>
              <a:gd fmla="val 14442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10033893" y="4158060"/>
            <a:ext cx="759171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Courier New"/>
              <a:buNone/>
            </a:pPr>
            <a:r>
              <a:rPr b="1" i="0" lang="en-US" sz="1725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10033893" y="4462860"/>
            <a:ext cx="7591713" cy="3313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Runs automatically at creation — sets up starting data.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9729093" y="5156200"/>
            <a:ext cx="7511157" cy="1055291"/>
          </a:xfrm>
          <a:prstGeom prst="roundRect">
            <a:avLst>
              <a:gd fmla="val 14442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10033893" y="5384800"/>
            <a:ext cx="759171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Courier New"/>
              <a:buNone/>
            </a:pPr>
            <a:r>
              <a:rPr b="1" i="0" lang="en-US" sz="1725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0033893" y="5689600"/>
            <a:ext cx="7591713" cy="3313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"This particular object" — always the first parameter.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9729093" y="6382941"/>
            <a:ext cx="7511157" cy="1061641"/>
          </a:xfrm>
          <a:prstGeom prst="roundRect">
            <a:avLst>
              <a:gd fmla="val 14355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10033893" y="6611541"/>
            <a:ext cx="759171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Courier New"/>
              <a:buNone/>
            </a:pPr>
            <a:r>
              <a:rPr b="1" i="0" lang="en-US" sz="1725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self.name = name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0033893" y="6916341"/>
            <a:ext cx="7591713" cy="337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Attaches an </a:t>
            </a:r>
            <a:r>
              <a:rPr b="1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attribute </a:t>
            </a: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— read it back with </a:t>
            </a:r>
            <a:r>
              <a:rPr b="0" i="0" lang="en-US" sz="165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s.name</a:t>
            </a: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9729093" y="7616032"/>
            <a:ext cx="7511157" cy="718741"/>
          </a:xfrm>
          <a:prstGeom prst="roundRect">
            <a:avLst>
              <a:gd fmla="val 21204" name="adj"/>
            </a:avLst>
          </a:prstGeom>
          <a:solidFill>
            <a:srgbClr val="FB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9729093" y="7616032"/>
            <a:ext cx="57150" cy="718741"/>
          </a:xfrm>
          <a:prstGeom prst="rect">
            <a:avLst/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10091043" y="7825582"/>
            <a:ext cx="7528848" cy="337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Watch out: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forget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self.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and the value vanishes when __init__ ends.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9" name="Google Shape;1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14328081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17021573" y="9674225"/>
            <a:ext cx="294878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OBJECTS · BEHAVIOUR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Methods — what an object can do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1047750" y="2110680"/>
            <a:ext cx="130968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A function that lives inside a class and sees the object's own data through </a:t>
            </a:r>
            <a:r>
              <a:rPr b="0" i="0" lang="en-US" sz="2250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1047750" y="4205387"/>
            <a:ext cx="8262243" cy="3853458"/>
          </a:xfrm>
          <a:prstGeom prst="roundRect">
            <a:avLst>
              <a:gd fmla="val 4449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1447800" y="4529237"/>
            <a:ext cx="7710011" cy="3243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1622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UnionBudget: </a:t>
            </a:r>
            <a:endParaRPr b="0" i="0" sz="1650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1622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en-US" sz="16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__init__ 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(self, head, amount): </a:t>
            </a:r>
            <a:endParaRPr b="0" i="0" sz="1650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1622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self.head = head </a:t>
            </a:r>
            <a:endParaRPr b="0" i="0" sz="1650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1622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self.amount = amount </a:t>
            </a:r>
            <a:endParaRPr b="0" i="0" sz="1650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1622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650"/>
              <a:buFont typeface="Courier New"/>
              <a:buNone/>
            </a:pPr>
            <a:r>
              <a:t/>
            </a:r>
            <a:endParaRPr sz="1650">
              <a:solidFill>
                <a:srgbClr val="7FD6A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1622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en-US" sz="16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spend 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(self, x): </a:t>
            </a:r>
            <a:endParaRPr b="0" i="0" sz="1650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1622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self.amount = self.amount - x </a:t>
            </a:r>
            <a:r>
              <a:rPr b="0" i="0" lang="en-US" sz="165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changes data </a:t>
            </a:r>
            <a:endParaRPr b="0" i="0" sz="1650" u="none" cap="none" strike="noStrike">
              <a:solidFill>
                <a:srgbClr val="9AA79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1622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edu = UnionBudget(</a:t>
            </a: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"Education"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650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1000 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b="0" i="0" sz="1650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1622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edu.</a:t>
            </a:r>
            <a:r>
              <a:rPr b="0" i="0" lang="en-US" sz="16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spend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650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350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65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remaining 650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9729093" y="4500364"/>
            <a:ext cx="3679329" cy="1051223"/>
          </a:xfrm>
          <a:prstGeom prst="roundRect">
            <a:avLst>
              <a:gd fmla="val 14497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9976743" y="4728964"/>
            <a:ext cx="35024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HAS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9976743" y="5033764"/>
            <a:ext cx="3502432" cy="3273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237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Attributes — </a:t>
            </a:r>
            <a:r>
              <a:rPr b="0" i="0" lang="en-US" sz="165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5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amount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13560822" y="4500364"/>
            <a:ext cx="3679428" cy="1051223"/>
          </a:xfrm>
          <a:prstGeom prst="roundRect">
            <a:avLst>
              <a:gd fmla="val 14497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13808472" y="4728964"/>
            <a:ext cx="35025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DOES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13808472" y="5033764"/>
            <a:ext cx="3502541" cy="3273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237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Methods — </a:t>
            </a:r>
            <a:r>
              <a:rPr b="0" i="0" lang="en-US" sz="165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spend()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9729093" y="5742087"/>
            <a:ext cx="7511157" cy="819249"/>
          </a:xfrm>
          <a:prstGeom prst="roundRect">
            <a:avLst>
              <a:gd fmla="val 18602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10033893" y="5989737"/>
            <a:ext cx="7591713" cy="3620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269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Call a method with </a:t>
            </a:r>
            <a:r>
              <a:rPr b="1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parentheses </a:t>
            </a: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— it's an action: </a:t>
            </a:r>
            <a:r>
              <a:rPr b="0" i="0" lang="en-US" sz="1725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edu.spend(350)</a:t>
            </a: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9729093" y="6751836"/>
            <a:ext cx="7511157" cy="1012031"/>
          </a:xfrm>
          <a:prstGeom prst="roundRect">
            <a:avLst>
              <a:gd fmla="val 15059" name="adj"/>
            </a:avLst>
          </a:prstGeom>
          <a:solidFill>
            <a:srgbClr val="FB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9729093" y="6751836"/>
            <a:ext cx="57150" cy="1012031"/>
          </a:xfrm>
          <a:prstGeom prst="rect">
            <a:avLst/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10091043" y="6961386"/>
            <a:ext cx="7049739" cy="631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No parentheses?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edu.spend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just refers to the method — it doesn't run.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4" name="Google Shape;20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4312008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7005499" y="9674225"/>
            <a:ext cx="310952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EE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"/>
          <p:cNvSpPr/>
          <p:nvPr/>
        </p:nvSpPr>
        <p:spPr>
          <a:xfrm>
            <a:off x="1047750" y="914400"/>
            <a:ext cx="2839343" cy="425450"/>
          </a:xfrm>
          <a:prstGeom prst="roundRect">
            <a:avLst>
              <a:gd fmla="val 50000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1257300" y="1009650"/>
            <a:ext cx="2505423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PREDICT THE OUTPUT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1047750" y="1587500"/>
            <a:ext cx="17811750" cy="623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22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What prints — before you run it?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1047750" y="2325489"/>
            <a:ext cx="17811750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Think for 30 seconds, then say your answer out loud.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1047750" y="4366320"/>
            <a:ext cx="8436868" cy="3752850"/>
          </a:xfrm>
          <a:prstGeom prst="roundRect">
            <a:avLst>
              <a:gd fmla="val 4569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1466850" y="4709220"/>
            <a:ext cx="7851774" cy="3105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4808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b="0" i="0" lang="en-US" sz="17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ElectionResult: </a:t>
            </a:r>
            <a:endParaRPr b="0" i="0" sz="172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4808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en-US" sz="172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__init__ </a:t>
            </a:r>
            <a:r>
              <a:rPr b="0" i="0" lang="en-US" sz="17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(self, party): </a:t>
            </a:r>
            <a:endParaRPr b="0" i="0" sz="172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4808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self.party = party </a:t>
            </a:r>
            <a:endParaRPr b="0" i="0" sz="172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4808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one = ElectionResult(</a:t>
            </a:r>
            <a:r>
              <a:rPr b="0" i="0" lang="en-US" sz="172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"Party A" </a:t>
            </a:r>
            <a:r>
              <a:rPr b="0" i="0" lang="en-US" sz="17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b="0" i="0" sz="172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4808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two = ElectionResult(</a:t>
            </a:r>
            <a:r>
              <a:rPr b="0" i="0" lang="en-US" sz="172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"Party B" </a:t>
            </a:r>
            <a:r>
              <a:rPr b="0" i="0" lang="en-US" sz="17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b="0" i="0" sz="172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4808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one.party = </a:t>
            </a:r>
            <a:r>
              <a:rPr b="0" i="0" lang="en-US" sz="172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"Party C" </a:t>
            </a:r>
            <a:endParaRPr b="0" i="0" sz="1725" u="none" cap="none" strike="noStrike">
              <a:solidFill>
                <a:srgbClr val="7FD6A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4808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7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(one.party, two.party)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9903719" y="4899621"/>
            <a:ext cx="7336433" cy="1244699"/>
          </a:xfrm>
          <a:prstGeom prst="roundRect">
            <a:avLst>
              <a:gd fmla="val 1377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10246619" y="5185371"/>
            <a:ext cx="7315696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Trace it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10246619" y="5534620"/>
            <a:ext cx="7315696" cy="3620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269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Two separate objects. Changing </a:t>
            </a:r>
            <a:r>
              <a:rPr b="0" i="0" lang="en-US" sz="1725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one </a:t>
            </a: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can never touch </a:t>
            </a:r>
            <a:r>
              <a:rPr b="0" i="0" lang="en-US" sz="1725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two</a:t>
            </a: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9903719" y="6334820"/>
            <a:ext cx="7336433" cy="1250950"/>
          </a:xfrm>
          <a:prstGeom prst="roundRect">
            <a:avLst>
              <a:gd fmla="val 1370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10246619" y="6620570"/>
            <a:ext cx="7315696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Reveal on click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10246619" y="6969820"/>
            <a:ext cx="7315696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→ Party C Party 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5" name="Google Shape;2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9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14308336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17001827" y="9674225"/>
            <a:ext cx="31462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OBJECTS · REFACTORING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Same behaviour, cleaner shape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1047750" y="2320230"/>
            <a:ext cx="8696325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Before — dict + loose functions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1047750" y="2752031"/>
            <a:ext cx="7905750" cy="5699820"/>
          </a:xfrm>
          <a:prstGeom prst="roundRect">
            <a:avLst>
              <a:gd fmla="val 2674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1352550" y="3018731"/>
            <a:ext cx="7533323" cy="52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scheme = {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"PM-KISAN"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"coverage"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575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92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b="0" i="0" sz="157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en-US" sz="157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show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(scheme): ... </a:t>
            </a:r>
            <a:endParaRPr b="0" i="0" sz="157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en-US" sz="157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meets_target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(scheme): </a:t>
            </a:r>
            <a:endParaRPr b="0" i="0" sz="157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scheme[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"coverage"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 &gt;= </a:t>
            </a:r>
            <a:r>
              <a:rPr b="0" i="0" lang="en-US" sz="1575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80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9334500" y="2320230"/>
            <a:ext cx="8696325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After — one clean class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9334500" y="2752031"/>
            <a:ext cx="7905750" cy="5699820"/>
          </a:xfrm>
          <a:prstGeom prst="roundRect">
            <a:avLst>
              <a:gd fmla="val 2674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9639300" y="3018731"/>
            <a:ext cx="7533323" cy="52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GovernmentScheme: </a:t>
            </a:r>
            <a:endParaRPr b="0" i="0" sz="157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en-US" sz="157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__init__ 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(self, name, cov): </a:t>
            </a:r>
            <a:endParaRPr b="0" i="0" sz="157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self.name = name </a:t>
            </a:r>
            <a:endParaRPr b="0" i="0" sz="157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self.cov = cov </a:t>
            </a:r>
            <a:endParaRPr b="0" i="0" sz="157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575"/>
              <a:buFont typeface="Courier New"/>
              <a:buNone/>
            </a:pPr>
            <a:r>
              <a:t/>
            </a:r>
            <a:endParaRPr sz="1575">
              <a:solidFill>
                <a:srgbClr val="7FD6A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en-US" sz="157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meets_target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(self): </a:t>
            </a:r>
            <a:endParaRPr b="0" i="0" sz="157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self.cov &gt;= </a:t>
            </a:r>
            <a:r>
              <a:rPr b="0" i="0" lang="en-US" sz="1575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80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1047750" y="8699500"/>
            <a:ext cx="16192500" cy="730250"/>
          </a:xfrm>
          <a:prstGeom prst="roundRect">
            <a:avLst>
              <a:gd fmla="val 20870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1047750" y="8699500"/>
            <a:ext cx="57150" cy="730250"/>
          </a:xfrm>
          <a:prstGeom prst="rect">
            <a:avLst/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1466850" y="8909050"/>
            <a:ext cx="15897225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7564E"/>
                </a:solidFill>
                <a:highlight>
                  <a:srgbClr val="EAF3EE"/>
                </a:highlight>
                <a:latin typeface="Arial"/>
                <a:ea typeface="Arial"/>
                <a:cs typeface="Arial"/>
                <a:sym typeface="Arial"/>
              </a:rPr>
              <a:t>Repeated dict-passing is a signal to switch to a class. </a:t>
            </a: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This is your MP2 refactor for homework.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5" name="Google Shape;24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0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14366677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17060168" y="9674225"/>
            <a:ext cx="256282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EE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"/>
          <p:cNvSpPr/>
          <p:nvPr/>
        </p:nvSpPr>
        <p:spPr>
          <a:xfrm>
            <a:off x="14287500" y="-1524000"/>
            <a:ext cx="5334000" cy="5334000"/>
          </a:xfrm>
          <a:prstGeom prst="ellipse">
            <a:avLst/>
          </a:prstGeom>
          <a:solidFill>
            <a:srgbClr val="CE4A32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1047750" y="3096419"/>
            <a:ext cx="2436713" cy="533400"/>
          </a:xfrm>
          <a:prstGeom prst="roundRect">
            <a:avLst>
              <a:gd fmla="val 50000" name="adj"/>
            </a:avLst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1295400" y="3296444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1562100" y="3229769"/>
            <a:ext cx="1750913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CODING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1047750" y="3972719"/>
            <a:ext cx="17811750" cy="931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528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6900"/>
              <a:buFont typeface="Arial"/>
              <a:buNone/>
            </a:pPr>
            <a:r>
              <a:rPr b="1" i="0" lang="en-US" sz="69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Switch to Google Colab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1047750" y="5285581"/>
            <a:ext cx="8997553" cy="882650"/>
          </a:xfrm>
          <a:prstGeom prst="roundRect">
            <a:avLst>
              <a:gd fmla="val 19424" name="adj"/>
            </a:avLst>
          </a:prstGeom>
          <a:solidFill>
            <a:srgbClr val="FFFFFF"/>
          </a:solidFill>
          <a:ln cap="flat" cmpd="sng" w="9525">
            <a:solidFill>
              <a:srgbClr val="DCE6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1377950" y="5587207"/>
            <a:ext cx="2779157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Notebook Sections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4094956" y="5564981"/>
            <a:ext cx="19050" cy="323850"/>
          </a:xfrm>
          <a:prstGeom prst="rect">
            <a:avLst/>
          </a:prstGeom>
          <a:solidFill>
            <a:srgbClr val="C9D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4304506" y="5539582"/>
            <a:ext cx="5951657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Classes · __init__ · Methods · Refactoring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1047750" y="6492082"/>
            <a:ext cx="10595610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Build the class → add a constructor → add methods → guided practice → refactor a dict into a class.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4" name="Google Shape;26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1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14435634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17129125" y="9674225"/>
            <a:ext cx="18732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4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"/>
          <p:cNvSpPr/>
          <p:nvPr/>
        </p:nvSpPr>
        <p:spPr>
          <a:xfrm>
            <a:off x="12673807" y="3048000"/>
            <a:ext cx="5127863" cy="4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6957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33000"/>
              <a:buFont typeface="Arial"/>
              <a:buNone/>
            </a:pPr>
            <a:r>
              <a:rPr b="1" i="0" lang="en-US" sz="330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1047750" y="3823097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CHAPTER 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1047750" y="4356497"/>
            <a:ext cx="12573000" cy="9707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48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Professional tooling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1047750" y="5613003"/>
            <a:ext cx="981075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pip, virtual environments, notebooks, and Git &amp; GitHub — the analyst's toolkit.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7" name="Google Shape;27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2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14387315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17080806" y="9674225"/>
            <a:ext cx="23564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TOOLING · PACKAGES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Don't rewrite — install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1047750" y="2110680"/>
            <a:ext cx="12263438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A package is code someone already wrote and shared. </a:t>
            </a:r>
            <a:r>
              <a:rPr b="0" i="0" lang="en-US" sz="2250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pip </a:t>
            </a: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fetches the ones Python didn't ship with.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1047750" y="3234630"/>
            <a:ext cx="7905750" cy="5242620"/>
          </a:xfrm>
          <a:prstGeom prst="roundRect">
            <a:avLst>
              <a:gd fmla="val 3997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1447800" y="3577530"/>
            <a:ext cx="7816215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Standard library — built 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1447800" y="3990281"/>
            <a:ext cx="960140" cy="508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1676400" y="4104581"/>
            <a:ext cx="57914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2522240" y="3990281"/>
            <a:ext cx="1211659" cy="508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2750840" y="4104581"/>
            <a:ext cx="830659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random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3848199" y="3990281"/>
            <a:ext cx="1463080" cy="508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4076799" y="4104581"/>
            <a:ext cx="108208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datetime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1447800" y="7821315"/>
            <a:ext cx="7816215" cy="351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4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Just </a:t>
            </a:r>
            <a:r>
              <a:rPr b="0" i="0" lang="en-US" sz="1725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them — no installation needed.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9334500" y="3234630"/>
            <a:ext cx="7905750" cy="5242620"/>
          </a:xfrm>
          <a:prstGeom prst="roundRect">
            <a:avLst>
              <a:gd fmla="val 3997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9334500" y="3234630"/>
            <a:ext cx="57150" cy="5242620"/>
          </a:xfrm>
          <a:prstGeom prst="rect">
            <a:avLst/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9791700" y="3577530"/>
            <a:ext cx="775335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Third-party — install first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9791700" y="3990281"/>
            <a:ext cx="1085850" cy="508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"/>
          <p:cNvSpPr/>
          <p:nvPr/>
        </p:nvSpPr>
        <p:spPr>
          <a:xfrm>
            <a:off x="10020300" y="4104581"/>
            <a:ext cx="70485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numpy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10991850" y="3990281"/>
            <a:ext cx="1211659" cy="508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11220450" y="4104581"/>
            <a:ext cx="830659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pandas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9791700" y="7044730"/>
            <a:ext cx="7048500" cy="1089620"/>
          </a:xfrm>
          <a:prstGeom prst="roundRect">
            <a:avLst>
              <a:gd fmla="val 12238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10058400" y="7254280"/>
            <a:ext cx="6726555" cy="7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2703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pip install numpy pandas </a:t>
            </a:r>
            <a:r>
              <a:rPr b="0" i="0" lang="en-US" sz="165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in a notebook: !pip install ...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1047750" y="8705850"/>
            <a:ext cx="16192500" cy="723900"/>
          </a:xfrm>
          <a:prstGeom prst="roundRect">
            <a:avLst>
              <a:gd fmla="val 21053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1409700" y="8915400"/>
            <a:ext cx="15954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requirements.txt </a:t>
            </a:r>
            <a:r>
              <a:rPr b="0" i="0" lang="en-US" sz="1800" u="none" cap="none" strike="noStrike">
                <a:solidFill>
                  <a:srgbClr val="FFFFFF"/>
                </a:solidFill>
                <a:highlight>
                  <a:srgbClr val="0C2E1E"/>
                </a:highlight>
                <a:latin typeface="Arial"/>
                <a:ea typeface="Arial"/>
                <a:cs typeface="Arial"/>
                <a:sym typeface="Arial"/>
              </a:rPr>
              <a:t>= your project's shopping list, one package per line — </a:t>
            </a: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pip install -r requirements.txt</a:t>
            </a:r>
            <a:r>
              <a:rPr b="0" i="0" lang="en-US" sz="1800" u="none" cap="none" strike="noStrike">
                <a:solidFill>
                  <a:srgbClr val="FFFFFF"/>
                </a:solidFill>
                <a:highlight>
                  <a:srgbClr val="0C2E1E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9" name="Google Shape;3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3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14384536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17078027" y="9674225"/>
            <a:ext cx="23842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4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TOOLING · ENVIRONMENT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Isolate the project, remember the state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1047750" y="2320230"/>
            <a:ext cx="7905750" cy="7109520"/>
          </a:xfrm>
          <a:prstGeom prst="roundRect">
            <a:avLst>
              <a:gd fmla="val 2947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4"/>
          <p:cNvSpPr/>
          <p:nvPr/>
        </p:nvSpPr>
        <p:spPr>
          <a:xfrm>
            <a:off x="1447800" y="2663130"/>
            <a:ext cx="781621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Virtual environment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1447800" y="3075881"/>
            <a:ext cx="7318820" cy="65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4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 private toolbox per project — Project A's package versions never fight Project B's.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1447800" y="7299325"/>
            <a:ext cx="7105650" cy="1362075"/>
          </a:xfrm>
          <a:prstGeom prst="roundRect">
            <a:avLst>
              <a:gd fmla="val 9790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4"/>
          <p:cNvSpPr/>
          <p:nvPr/>
        </p:nvSpPr>
        <p:spPr>
          <a:xfrm>
            <a:off x="1714500" y="7508875"/>
            <a:ext cx="6785420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58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python -m venv venv source venv/bin/activate </a:t>
            </a:r>
            <a:r>
              <a:rPr b="0" i="0" lang="en-US" sz="150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mac/Linux </a:t>
            </a:r>
            <a:r>
              <a:rPr b="0" i="0" lang="en-US" sz="15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venv\Scripts\activate </a:t>
            </a:r>
            <a:r>
              <a:rPr b="0" i="0" lang="en-US" sz="150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Windows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1447800" y="8813800"/>
            <a:ext cx="7816215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⚠ No </a:t>
            </a:r>
            <a:r>
              <a:rPr b="1" i="0" lang="en-US" sz="1575" u="none" cap="none" strike="noStrik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(venv) </a:t>
            </a:r>
            <a:r>
              <a:rPr b="1" i="0" lang="en-US" sz="1575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in the prompt? You're not inside it.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9334500" y="2320230"/>
            <a:ext cx="7905750" cy="7109520"/>
          </a:xfrm>
          <a:prstGeom prst="roundRect">
            <a:avLst>
              <a:gd fmla="val 2947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4"/>
          <p:cNvSpPr/>
          <p:nvPr/>
        </p:nvSpPr>
        <p:spPr>
          <a:xfrm>
            <a:off x="9334500" y="2320230"/>
            <a:ext cx="57150" cy="7109520"/>
          </a:xfrm>
          <a:prstGeom prst="rect">
            <a:avLst/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9791700" y="2663130"/>
            <a:ext cx="77533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The notebook kernel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9791700" y="3075881"/>
            <a:ext cx="7259955" cy="657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4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Markdown + code cells. The </a:t>
            </a:r>
            <a:r>
              <a:rPr b="1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kernel </a:t>
            </a: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is the live Python brain that remembers every variable you run.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9791700" y="7816850"/>
            <a:ext cx="7048500" cy="577850"/>
          </a:xfrm>
          <a:prstGeom prst="roundRect">
            <a:avLst>
              <a:gd fmla="val 197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4"/>
          <p:cNvSpPr/>
          <p:nvPr/>
        </p:nvSpPr>
        <p:spPr>
          <a:xfrm>
            <a:off x="10020300" y="7969250"/>
            <a:ext cx="6802755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Shift + Enter </a:t>
            </a:r>
            <a:r>
              <a:rPr b="0" i="0" lang="en-US" sz="1650" u="none" cap="none" strike="noStrike">
                <a:solidFill>
                  <a:srgbClr val="0C2E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— run a cell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9791700" y="8509000"/>
            <a:ext cx="7048500" cy="577850"/>
          </a:xfrm>
          <a:prstGeom prst="roundRect">
            <a:avLst>
              <a:gd fmla="val 197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"/>
          <p:cNvSpPr/>
          <p:nvPr/>
        </p:nvSpPr>
        <p:spPr>
          <a:xfrm>
            <a:off x="10020300" y="8661400"/>
            <a:ext cx="6802755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Restart &amp; Run All </a:t>
            </a:r>
            <a:r>
              <a:rPr b="0" i="0" lang="en-US" sz="1650" u="none" cap="none" strike="noStrike">
                <a:solidFill>
                  <a:srgbClr val="0C2E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— the honesty test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4" name="Google Shape;33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4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14381461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17074952" y="9674225"/>
            <a:ext cx="241498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5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TOOLING · VERSION CONTROL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Git &amp; GitHub — your save points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1047750" y="2110680"/>
            <a:ext cx="13620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Git is your local save-point system; GitHub is the cloud save. The everyday flow never changes.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1047750" y="2834580"/>
            <a:ext cx="4927600" cy="1209973"/>
          </a:xfrm>
          <a:prstGeom prst="roundRect">
            <a:avLst>
              <a:gd fmla="val 14170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5"/>
          <p:cNvSpPr/>
          <p:nvPr/>
        </p:nvSpPr>
        <p:spPr>
          <a:xfrm>
            <a:off x="1371600" y="3120330"/>
            <a:ext cx="470789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git add 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1371600" y="3475931"/>
            <a:ext cx="4707890" cy="3209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237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Stage the files for the next snapshot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6165850" y="2834580"/>
            <a:ext cx="400050" cy="12480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6680200" y="2834580"/>
            <a:ext cx="4927600" cy="1209973"/>
          </a:xfrm>
          <a:prstGeom prst="roundRect">
            <a:avLst>
              <a:gd fmla="val 14170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5"/>
          <p:cNvSpPr/>
          <p:nvPr/>
        </p:nvSpPr>
        <p:spPr>
          <a:xfrm>
            <a:off x="7004050" y="3120330"/>
            <a:ext cx="470789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git commit -m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7004050" y="3475931"/>
            <a:ext cx="4707890" cy="3209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237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Save a snapshot with a clear message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11798301" y="2834580"/>
            <a:ext cx="400050" cy="12480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12312651" y="2834580"/>
            <a:ext cx="4927600" cy="1209973"/>
          </a:xfrm>
          <a:prstGeom prst="roundRect">
            <a:avLst>
              <a:gd fmla="val 14170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12636501" y="3120330"/>
            <a:ext cx="470789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git push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12636501" y="3475931"/>
            <a:ext cx="4707890" cy="3209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23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Upload the commits to GitHub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1047750" y="4330303"/>
            <a:ext cx="7972425" cy="5099447"/>
          </a:xfrm>
          <a:prstGeom prst="roundRect">
            <a:avLst>
              <a:gd fmla="val 3362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1047750" y="4330303"/>
            <a:ext cx="57150" cy="5099447"/>
          </a:xfrm>
          <a:prstGeom prst="rect">
            <a:avLst/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1428750" y="4597003"/>
            <a:ext cx="79943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Write messages for humans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1428750" y="4939903"/>
            <a:ext cx="7994333" cy="337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✗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"update" </a:t>
            </a:r>
            <a:r>
              <a:rPr b="0" i="0" lang="en-US" sz="16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✓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"Add DistrictData class"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9267825" y="4330303"/>
            <a:ext cx="7972425" cy="5099447"/>
          </a:xfrm>
          <a:prstGeom prst="roundRect">
            <a:avLst>
              <a:gd fmla="val 3362" name="adj"/>
            </a:avLst>
          </a:prstGeom>
          <a:solidFill>
            <a:srgbClr val="FB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9267825" y="4330303"/>
            <a:ext cx="57150" cy="5099447"/>
          </a:xfrm>
          <a:prstGeom prst="rect">
            <a:avLst/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5"/>
          <p:cNvSpPr/>
          <p:nvPr/>
        </p:nvSpPr>
        <p:spPr>
          <a:xfrm>
            <a:off x="9648825" y="4597003"/>
            <a:ext cx="799433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⚠ Common mistake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9648825" y="4978003"/>
            <a:ext cx="7994333" cy="337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Forgetting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git add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before commit — unstaged files aren't saved.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5" name="Google Shape;36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5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14380568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17074059" y="9674225"/>
            <a:ext cx="2423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EE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6"/>
          <p:cNvSpPr/>
          <p:nvPr/>
        </p:nvSpPr>
        <p:spPr>
          <a:xfrm>
            <a:off x="14287500" y="-1524000"/>
            <a:ext cx="5334000" cy="5334000"/>
          </a:xfrm>
          <a:prstGeom prst="ellipse">
            <a:avLst/>
          </a:prstGeom>
          <a:solidFill>
            <a:srgbClr val="CE4A32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6"/>
          <p:cNvSpPr/>
          <p:nvPr/>
        </p:nvSpPr>
        <p:spPr>
          <a:xfrm>
            <a:off x="1047750" y="3093244"/>
            <a:ext cx="2436713" cy="533400"/>
          </a:xfrm>
          <a:prstGeom prst="roundRect">
            <a:avLst>
              <a:gd fmla="val 50000" name="adj"/>
            </a:avLst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6"/>
          <p:cNvSpPr/>
          <p:nvPr/>
        </p:nvSpPr>
        <p:spPr>
          <a:xfrm>
            <a:off x="1295400" y="3293269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6"/>
          <p:cNvSpPr/>
          <p:nvPr/>
        </p:nvSpPr>
        <p:spPr>
          <a:xfrm>
            <a:off x="1562100" y="3226594"/>
            <a:ext cx="1750913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CODING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1047750" y="3969544"/>
            <a:ext cx="17811750" cy="931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528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6900"/>
              <a:buFont typeface="Arial"/>
              <a:buNone/>
            </a:pPr>
            <a:r>
              <a:rPr b="1" i="0" lang="en-US" sz="69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Setup check in Colab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1047750" y="5282407"/>
            <a:ext cx="7154069" cy="882650"/>
          </a:xfrm>
          <a:prstGeom prst="roundRect">
            <a:avLst>
              <a:gd fmla="val 19424" name="adj"/>
            </a:avLst>
          </a:prstGeom>
          <a:solidFill>
            <a:srgbClr val="FFFFFF"/>
          </a:solidFill>
          <a:ln cap="flat" cmpd="sng" w="9525">
            <a:solidFill>
              <a:srgbClr val="DCE6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6"/>
          <p:cNvSpPr/>
          <p:nvPr/>
        </p:nvSpPr>
        <p:spPr>
          <a:xfrm>
            <a:off x="1377950" y="5584031"/>
            <a:ext cx="2615664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Notebook Section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3946327" y="5561806"/>
            <a:ext cx="19050" cy="323850"/>
          </a:xfrm>
          <a:prstGeom prst="rect">
            <a:avLst/>
          </a:prstGeom>
          <a:solidFill>
            <a:srgbClr val="C9D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6"/>
          <p:cNvSpPr/>
          <p:nvPr/>
        </p:nvSpPr>
        <p:spPr>
          <a:xfrm>
            <a:off x="4155877" y="5536406"/>
            <a:ext cx="4087317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Packages · import &amp; versions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1047750" y="6488906"/>
            <a:ext cx="1059561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Import </a:t>
            </a:r>
            <a:r>
              <a:rPr b="0" i="0" lang="en-US" sz="210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math </a:t>
            </a:r>
            <a:r>
              <a:rPr b="0" i="0" lang="en-US" sz="21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b="0" i="0" lang="en-US" sz="210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random</a:t>
            </a:r>
            <a:r>
              <a:rPr b="0" i="0" lang="en-US" sz="21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, then </a:t>
            </a:r>
            <a:r>
              <a:rPr b="0" i="0" lang="en-US" sz="210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numpy </a:t>
            </a:r>
            <a:r>
              <a:rPr b="0" i="0" lang="en-US" sz="21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b="0" i="0" lang="en-US" sz="210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pandas </a:t>
            </a:r>
            <a:r>
              <a:rPr b="0" i="0" lang="en-US" sz="21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— print their versions to confirm they're ready.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4" name="Google Shape;3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6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14377293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17070785" y="9674225"/>
            <a:ext cx="245666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4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"/>
          <p:cNvSpPr/>
          <p:nvPr/>
        </p:nvSpPr>
        <p:spPr>
          <a:xfrm>
            <a:off x="12673807" y="3048000"/>
            <a:ext cx="5127863" cy="4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6957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33000"/>
              <a:buFont typeface="Arial"/>
              <a:buNone/>
            </a:pPr>
            <a:r>
              <a:rPr b="1" i="0" lang="en-US" sz="330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1047750" y="3823097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CHAPTER 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1047750" y="4356497"/>
            <a:ext cx="12573000" cy="9707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48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NumPy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1047750" y="5613003"/>
            <a:ext cx="9614535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The array — fast maths on thousands of numbers at once, no loops.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7" name="Google Shape;39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7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14394557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17088049" y="9674225"/>
            <a:ext cx="228402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8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NUMPY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 list built for maths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8"/>
          <p:cNvSpPr/>
          <p:nvPr/>
        </p:nvSpPr>
        <p:spPr>
          <a:xfrm>
            <a:off x="1047750" y="2110680"/>
            <a:ext cx="130968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One operation touches every element at once — that's </a:t>
            </a:r>
            <a:r>
              <a:rPr b="1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vectorization</a:t>
            </a: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1047750" y="4658122"/>
            <a:ext cx="7905750" cy="2947988"/>
          </a:xfrm>
          <a:prstGeom prst="roundRect">
            <a:avLst>
              <a:gd fmla="val 5816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8"/>
          <p:cNvSpPr/>
          <p:nvPr/>
        </p:nvSpPr>
        <p:spPr>
          <a:xfrm>
            <a:off x="1447800" y="4981972"/>
            <a:ext cx="7342823" cy="2338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4808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7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numpy </a:t>
            </a:r>
            <a:r>
              <a:rPr b="0" i="0" lang="en-US" sz="172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b="0" i="0" lang="en-US" sz="17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np budget = np.</a:t>
            </a:r>
            <a:r>
              <a:rPr b="0" i="0" lang="en-US" sz="172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b="0" i="0" lang="en-US" sz="17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b="0" i="0" lang="en-US" sz="1725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b="0" i="0" lang="en-US" sz="17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725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b="0" i="0" lang="en-US" sz="17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725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300 </a:t>
            </a:r>
            <a:r>
              <a:rPr b="0" i="0" lang="en-US" sz="17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]) budget * </a:t>
            </a:r>
            <a:r>
              <a:rPr b="0" i="0" lang="en-US" sz="1725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725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[200 400 600] </a:t>
            </a:r>
            <a:r>
              <a:rPr b="0" i="0" lang="en-US" sz="17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budget + </a:t>
            </a:r>
            <a:r>
              <a:rPr b="0" i="0" lang="en-US" sz="1725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b="0" i="0" lang="en-US" sz="1725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[150 250 350]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9334500" y="4464646"/>
            <a:ext cx="7905750" cy="1117600"/>
          </a:xfrm>
          <a:prstGeom prst="roundRect">
            <a:avLst>
              <a:gd fmla="val 13636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8"/>
          <p:cNvSpPr/>
          <p:nvPr/>
        </p:nvSpPr>
        <p:spPr>
          <a:xfrm>
            <a:off x="9334500" y="4464646"/>
            <a:ext cx="57150" cy="1117600"/>
          </a:xfrm>
          <a:prstGeom prst="rect">
            <a:avLst/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8"/>
          <p:cNvSpPr/>
          <p:nvPr/>
        </p:nvSpPr>
        <p:spPr>
          <a:xfrm>
            <a:off x="9696450" y="4712296"/>
            <a:ext cx="7962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array × 2 → doubles each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8"/>
          <p:cNvSpPr/>
          <p:nvPr/>
        </p:nvSpPr>
        <p:spPr>
          <a:xfrm>
            <a:off x="9696450" y="5055196"/>
            <a:ext cx="79629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42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3A4A42"/>
                </a:solidFill>
                <a:latin typeface="Courier New"/>
                <a:ea typeface="Courier New"/>
                <a:cs typeface="Courier New"/>
                <a:sym typeface="Courier New"/>
              </a:rPr>
              <a:t>[100, 200] → [200, 400]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9334500" y="5753695"/>
            <a:ext cx="7905750" cy="1117600"/>
          </a:xfrm>
          <a:prstGeom prst="roundRect">
            <a:avLst>
              <a:gd fmla="val 13636" name="adj"/>
            </a:avLst>
          </a:prstGeom>
          <a:solidFill>
            <a:srgbClr val="FB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8"/>
          <p:cNvSpPr/>
          <p:nvPr/>
        </p:nvSpPr>
        <p:spPr>
          <a:xfrm>
            <a:off x="9334500" y="5753695"/>
            <a:ext cx="57150" cy="1117600"/>
          </a:xfrm>
          <a:prstGeom prst="rect">
            <a:avLst/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8"/>
          <p:cNvSpPr/>
          <p:nvPr/>
        </p:nvSpPr>
        <p:spPr>
          <a:xfrm>
            <a:off x="9696450" y="6001345"/>
            <a:ext cx="7962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list × 2 → just repeats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9696450" y="6344245"/>
            <a:ext cx="79629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42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3A4A42"/>
                </a:solidFill>
                <a:latin typeface="Courier New"/>
                <a:ea typeface="Courier New"/>
                <a:cs typeface="Courier New"/>
                <a:sym typeface="Courier New"/>
              </a:rPr>
              <a:t>[100, 200] → [100, 200, 100, 200]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9334500" y="7042746"/>
            <a:ext cx="7905750" cy="756841"/>
          </a:xfrm>
          <a:prstGeom prst="roundRect">
            <a:avLst>
              <a:gd fmla="val 20136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8"/>
          <p:cNvSpPr/>
          <p:nvPr/>
        </p:nvSpPr>
        <p:spPr>
          <a:xfrm>
            <a:off x="9639300" y="7271346"/>
            <a:ext cx="8025765" cy="337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Every array describes itself: </a:t>
            </a:r>
            <a:r>
              <a:rPr b="0" i="0" lang="en-US" sz="165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dtype · shape · ndim · size</a:t>
            </a: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1" name="Google Shape;4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8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14380964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17074455" y="9674225"/>
            <a:ext cx="24199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NUMPY · SHAPES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9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Grids &amp; the four you'll use daily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9"/>
          <p:cNvSpPr/>
          <p:nvPr/>
        </p:nvSpPr>
        <p:spPr>
          <a:xfrm>
            <a:off x="1047750" y="2110680"/>
            <a:ext cx="130968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Read </a:t>
            </a:r>
            <a:r>
              <a:rPr b="0" i="0" lang="en-US" sz="2250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shape </a:t>
            </a: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as </a:t>
            </a:r>
            <a:r>
              <a:rPr b="1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(rows, columns) </a:t>
            </a: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— the habit that pays off in Pandas.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1047750" y="2815530"/>
            <a:ext cx="3890962" cy="1089124"/>
          </a:xfrm>
          <a:prstGeom prst="roundRect">
            <a:avLst>
              <a:gd fmla="val 1399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9"/>
          <p:cNvSpPr/>
          <p:nvPr/>
        </p:nvSpPr>
        <p:spPr>
          <a:xfrm>
            <a:off x="1314450" y="3063180"/>
            <a:ext cx="369331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Courier New"/>
              <a:buNone/>
            </a:pPr>
            <a:r>
              <a:rPr b="1" i="0" lang="en-US" sz="1725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zeros()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9"/>
          <p:cNvSpPr/>
          <p:nvPr/>
        </p:nvSpPr>
        <p:spPr>
          <a:xfrm>
            <a:off x="1314450" y="3387030"/>
            <a:ext cx="3693319" cy="30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Grid of 0.0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5148263" y="2815530"/>
            <a:ext cx="3890962" cy="1089124"/>
          </a:xfrm>
          <a:prstGeom prst="roundRect">
            <a:avLst>
              <a:gd fmla="val 1399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9"/>
          <p:cNvSpPr/>
          <p:nvPr/>
        </p:nvSpPr>
        <p:spPr>
          <a:xfrm>
            <a:off x="5414963" y="3063180"/>
            <a:ext cx="369331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Courier New"/>
              <a:buNone/>
            </a:pPr>
            <a:r>
              <a:rPr b="1" i="0" lang="en-US" sz="1725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ones()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5414963" y="3387030"/>
            <a:ext cx="3693319" cy="30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Grid of 1.0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9248775" y="2815530"/>
            <a:ext cx="3890962" cy="1089124"/>
          </a:xfrm>
          <a:prstGeom prst="roundRect">
            <a:avLst>
              <a:gd fmla="val 1399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9"/>
          <p:cNvSpPr/>
          <p:nvPr/>
        </p:nvSpPr>
        <p:spPr>
          <a:xfrm>
            <a:off x="9515475" y="3063180"/>
            <a:ext cx="369331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Courier New"/>
              <a:buNone/>
            </a:pPr>
            <a:r>
              <a:rPr b="1" i="0" lang="en-US" sz="1725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arange()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9515475" y="3387030"/>
            <a:ext cx="3693319" cy="30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range() → array (stop excluded)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13349288" y="2815530"/>
            <a:ext cx="3890962" cy="1089124"/>
          </a:xfrm>
          <a:prstGeom prst="roundRect">
            <a:avLst>
              <a:gd fmla="val 1399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9"/>
          <p:cNvSpPr/>
          <p:nvPr/>
        </p:nvSpPr>
        <p:spPr>
          <a:xfrm>
            <a:off x="13615988" y="3063180"/>
            <a:ext cx="369331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Courier New"/>
              <a:buNone/>
            </a:pPr>
            <a:r>
              <a:rPr b="1" i="0" lang="en-US" sz="1725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reshape()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9"/>
          <p:cNvSpPr/>
          <p:nvPr/>
        </p:nvSpPr>
        <p:spPr>
          <a:xfrm>
            <a:off x="13615988" y="3387030"/>
            <a:ext cx="3693319" cy="30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Same numbers, new layout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9"/>
          <p:cNvSpPr/>
          <p:nvPr/>
        </p:nvSpPr>
        <p:spPr>
          <a:xfrm>
            <a:off x="1047750" y="5595739"/>
            <a:ext cx="8282186" cy="2390577"/>
          </a:xfrm>
          <a:prstGeom prst="roundRect">
            <a:avLst>
              <a:gd fmla="val 7172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9"/>
          <p:cNvSpPr/>
          <p:nvPr/>
        </p:nvSpPr>
        <p:spPr>
          <a:xfrm>
            <a:off x="1428750" y="5900539"/>
            <a:ext cx="7768652" cy="18190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1622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months = np.</a:t>
            </a:r>
            <a:r>
              <a:rPr b="0" i="0" lang="en-US" sz="16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arange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650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650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65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12 numbers </a:t>
            </a:r>
            <a:endParaRPr b="0" i="0" sz="1650" u="none" cap="none" strike="noStrike">
              <a:solidFill>
                <a:srgbClr val="9AA79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1622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months.</a:t>
            </a:r>
            <a:r>
              <a:rPr b="0" i="0" lang="en-US" sz="16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reshape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650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650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65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4 quarters × 3 </a:t>
            </a:r>
            <a:endParaRPr b="0" i="0" sz="1650" u="none" cap="none" strike="noStrike">
              <a:solidFill>
                <a:srgbClr val="9AA79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1622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4 × 3 = 12 ✓ </a:t>
            </a:r>
            <a:endParaRPr b="0" i="0" sz="1650" u="none" cap="none" strike="noStrike">
              <a:solidFill>
                <a:srgbClr val="9AA79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1622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reshape(4, 4) needs 16 ✗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9"/>
          <p:cNvSpPr/>
          <p:nvPr/>
        </p:nvSpPr>
        <p:spPr>
          <a:xfrm>
            <a:off x="9710936" y="6000354"/>
            <a:ext cx="7529314" cy="1581349"/>
          </a:xfrm>
          <a:prstGeom prst="roundRect">
            <a:avLst>
              <a:gd fmla="val 10842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9710936" y="6000354"/>
            <a:ext cx="57150" cy="1581349"/>
          </a:xfrm>
          <a:prstGeom prst="rect">
            <a:avLst/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9"/>
          <p:cNvSpPr/>
          <p:nvPr/>
        </p:nvSpPr>
        <p:spPr>
          <a:xfrm>
            <a:off x="10110986" y="6286104"/>
            <a:ext cx="746500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 grid is a list of lists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9"/>
          <p:cNvSpPr/>
          <p:nvPr/>
        </p:nvSpPr>
        <p:spPr>
          <a:xfrm>
            <a:off x="10110986" y="6648054"/>
            <a:ext cx="6989955" cy="6859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26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Rows = years, columns = districts. </a:t>
            </a:r>
            <a:r>
              <a:rPr b="0" i="0" lang="en-US" sz="1725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shape = (2, 3) </a:t>
            </a:r>
            <a:r>
              <a:rPr b="0" i="0" lang="en-US" sz="1725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→ 2 rows, 3 columns, </a:t>
            </a:r>
            <a:r>
              <a:rPr b="0" i="0" lang="en-US" sz="1725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size = 6</a:t>
            </a:r>
            <a:r>
              <a:rPr b="0" i="0" lang="en-US" sz="1725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1" name="Google Shape;4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9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9"/>
          <p:cNvSpPr/>
          <p:nvPr/>
        </p:nvSpPr>
        <p:spPr>
          <a:xfrm>
            <a:off x="14377293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9"/>
          <p:cNvSpPr/>
          <p:nvPr/>
        </p:nvSpPr>
        <p:spPr>
          <a:xfrm>
            <a:off x="17070785" y="9674225"/>
            <a:ext cx="245666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EE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0"/>
          <p:cNvSpPr/>
          <p:nvPr/>
        </p:nvSpPr>
        <p:spPr>
          <a:xfrm>
            <a:off x="1047750" y="914400"/>
            <a:ext cx="2839343" cy="425450"/>
          </a:xfrm>
          <a:prstGeom prst="roundRect">
            <a:avLst>
              <a:gd fmla="val 50000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0"/>
          <p:cNvSpPr/>
          <p:nvPr/>
        </p:nvSpPr>
        <p:spPr>
          <a:xfrm>
            <a:off x="1257300" y="1009650"/>
            <a:ext cx="2505423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PREDICT THE OUTPUT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1047750" y="1587500"/>
            <a:ext cx="17811750" cy="623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22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What prints — before you run it?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0"/>
          <p:cNvSpPr/>
          <p:nvPr/>
        </p:nvSpPr>
        <p:spPr>
          <a:xfrm>
            <a:off x="1047750" y="2325489"/>
            <a:ext cx="17811750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Watch the brackets and the commas.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0"/>
          <p:cNvSpPr/>
          <p:nvPr/>
        </p:nvSpPr>
        <p:spPr>
          <a:xfrm>
            <a:off x="1047750" y="4964609"/>
            <a:ext cx="8436868" cy="2556272"/>
          </a:xfrm>
          <a:prstGeom prst="roundRect">
            <a:avLst>
              <a:gd fmla="val 6707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0"/>
          <p:cNvSpPr/>
          <p:nvPr/>
        </p:nvSpPr>
        <p:spPr>
          <a:xfrm>
            <a:off x="1485900" y="5326559"/>
            <a:ext cx="7813674" cy="1870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3977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9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numpy </a:t>
            </a:r>
            <a:r>
              <a:rPr b="0" i="0" lang="en-US" sz="19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b="0" i="0" lang="en-US" sz="19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np </a:t>
            </a:r>
            <a:endParaRPr b="0" i="0" sz="1950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63977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turnout = np.</a:t>
            </a:r>
            <a:r>
              <a:rPr b="0" i="0" lang="en-US" sz="19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b="0" i="0" lang="en-US" sz="19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b="0" i="0" lang="en-US" sz="1950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55</a:t>
            </a:r>
            <a:r>
              <a:rPr b="0" i="0" lang="en-US" sz="19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950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62</a:t>
            </a:r>
            <a:r>
              <a:rPr b="0" i="0" lang="en-US" sz="19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950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70</a:t>
            </a:r>
            <a:r>
              <a:rPr b="0" i="0" lang="en-US" sz="19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]) </a:t>
            </a:r>
            <a:endParaRPr b="0" i="0" sz="1950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63977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9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(turnout + </a:t>
            </a:r>
            <a:r>
              <a:rPr b="0" i="0" lang="en-US" sz="1950" u="none" cap="none" strike="noStrik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n-US" sz="19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0"/>
          <p:cNvSpPr/>
          <p:nvPr/>
        </p:nvSpPr>
        <p:spPr>
          <a:xfrm>
            <a:off x="9903719" y="4899621"/>
            <a:ext cx="7336433" cy="1244699"/>
          </a:xfrm>
          <a:prstGeom prst="roundRect">
            <a:avLst>
              <a:gd fmla="val 1377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0"/>
          <p:cNvSpPr/>
          <p:nvPr/>
        </p:nvSpPr>
        <p:spPr>
          <a:xfrm>
            <a:off x="10246619" y="5185371"/>
            <a:ext cx="7315696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Trace it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0"/>
          <p:cNvSpPr/>
          <p:nvPr/>
        </p:nvSpPr>
        <p:spPr>
          <a:xfrm>
            <a:off x="10246619" y="5534620"/>
            <a:ext cx="7315696" cy="3620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269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+5 lands on every element; NumPy prints arrays </a:t>
            </a:r>
            <a:r>
              <a:rPr b="1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without commas</a:t>
            </a: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0"/>
          <p:cNvSpPr/>
          <p:nvPr/>
        </p:nvSpPr>
        <p:spPr>
          <a:xfrm>
            <a:off x="9903719" y="6334820"/>
            <a:ext cx="7336433" cy="1250950"/>
          </a:xfrm>
          <a:prstGeom prst="roundRect">
            <a:avLst>
              <a:gd fmla="val 1370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0"/>
          <p:cNvSpPr/>
          <p:nvPr/>
        </p:nvSpPr>
        <p:spPr>
          <a:xfrm>
            <a:off x="10246619" y="6620570"/>
            <a:ext cx="7315696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Reveal on click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0"/>
          <p:cNvSpPr/>
          <p:nvPr/>
        </p:nvSpPr>
        <p:spPr>
          <a:xfrm>
            <a:off x="10246619" y="6969820"/>
            <a:ext cx="7315696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→ [60 67 75]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2" name="Google Shape;4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20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0"/>
          <p:cNvSpPr/>
          <p:nvPr/>
        </p:nvSpPr>
        <p:spPr>
          <a:xfrm>
            <a:off x="14320143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0"/>
          <p:cNvSpPr/>
          <p:nvPr/>
        </p:nvSpPr>
        <p:spPr>
          <a:xfrm>
            <a:off x="17013635" y="9674225"/>
            <a:ext cx="302816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EE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1"/>
          <p:cNvSpPr/>
          <p:nvPr/>
        </p:nvSpPr>
        <p:spPr>
          <a:xfrm>
            <a:off x="14287500" y="-1524000"/>
            <a:ext cx="5334000" cy="5334000"/>
          </a:xfrm>
          <a:prstGeom prst="ellipse">
            <a:avLst/>
          </a:prstGeom>
          <a:solidFill>
            <a:srgbClr val="CE4A32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1"/>
          <p:cNvSpPr/>
          <p:nvPr/>
        </p:nvSpPr>
        <p:spPr>
          <a:xfrm>
            <a:off x="1047750" y="3096419"/>
            <a:ext cx="2436713" cy="533400"/>
          </a:xfrm>
          <a:prstGeom prst="roundRect">
            <a:avLst>
              <a:gd fmla="val 50000" name="adj"/>
            </a:avLst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1"/>
          <p:cNvSpPr/>
          <p:nvPr/>
        </p:nvSpPr>
        <p:spPr>
          <a:xfrm>
            <a:off x="1295400" y="3296444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1"/>
          <p:cNvSpPr/>
          <p:nvPr/>
        </p:nvSpPr>
        <p:spPr>
          <a:xfrm>
            <a:off x="1562100" y="3229769"/>
            <a:ext cx="1750913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CODING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1"/>
          <p:cNvSpPr/>
          <p:nvPr/>
        </p:nvSpPr>
        <p:spPr>
          <a:xfrm>
            <a:off x="1047750" y="3972719"/>
            <a:ext cx="17811750" cy="931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528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6900"/>
              <a:buFont typeface="Arial"/>
              <a:buNone/>
            </a:pPr>
            <a:r>
              <a:rPr b="1" i="0" lang="en-US" sz="69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Switch to Google Colab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1"/>
          <p:cNvSpPr/>
          <p:nvPr/>
        </p:nvSpPr>
        <p:spPr>
          <a:xfrm>
            <a:off x="1047750" y="5285581"/>
            <a:ext cx="7885311" cy="882650"/>
          </a:xfrm>
          <a:prstGeom prst="roundRect">
            <a:avLst>
              <a:gd fmla="val 19424" name="adj"/>
            </a:avLst>
          </a:prstGeom>
          <a:solidFill>
            <a:srgbClr val="FFFFFF"/>
          </a:solidFill>
          <a:ln cap="flat" cmpd="sng" w="9525">
            <a:solidFill>
              <a:srgbClr val="DCE6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1"/>
          <p:cNvSpPr/>
          <p:nvPr/>
        </p:nvSpPr>
        <p:spPr>
          <a:xfrm>
            <a:off x="1377950" y="5587207"/>
            <a:ext cx="2779157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Notebook Sections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1"/>
          <p:cNvSpPr/>
          <p:nvPr/>
        </p:nvSpPr>
        <p:spPr>
          <a:xfrm>
            <a:off x="4094956" y="5564981"/>
            <a:ext cx="19050" cy="323850"/>
          </a:xfrm>
          <a:prstGeom prst="rect">
            <a:avLst/>
          </a:prstGeom>
          <a:solidFill>
            <a:srgbClr val="C9D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1"/>
          <p:cNvSpPr/>
          <p:nvPr/>
        </p:nvSpPr>
        <p:spPr>
          <a:xfrm>
            <a:off x="4304506" y="5539582"/>
            <a:ext cx="4728190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NumPy · arrays · shapes · reshape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1"/>
          <p:cNvSpPr/>
          <p:nvPr/>
        </p:nvSpPr>
        <p:spPr>
          <a:xfrm>
            <a:off x="1047750" y="6492082"/>
            <a:ext cx="10595610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Inspect an array, run vectorized maths, build grids with zeros / ones / arange, and reshape.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1" name="Google Shape;4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1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1"/>
          <p:cNvSpPr/>
          <p:nvPr/>
        </p:nvSpPr>
        <p:spPr>
          <a:xfrm>
            <a:off x="14387315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1"/>
          <p:cNvSpPr/>
          <p:nvPr/>
        </p:nvSpPr>
        <p:spPr>
          <a:xfrm>
            <a:off x="17080806" y="9674225"/>
            <a:ext cx="23564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4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2"/>
          <p:cNvSpPr/>
          <p:nvPr/>
        </p:nvSpPr>
        <p:spPr>
          <a:xfrm>
            <a:off x="12673807" y="3048000"/>
            <a:ext cx="5127863" cy="4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6957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33000"/>
              <a:buFont typeface="Arial"/>
              <a:buNone/>
            </a:pPr>
            <a:r>
              <a:rPr b="1" i="0" lang="en-US" sz="330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2"/>
          <p:cNvSpPr/>
          <p:nvPr/>
        </p:nvSpPr>
        <p:spPr>
          <a:xfrm>
            <a:off x="1047750" y="4035822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CHAPTER 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2"/>
          <p:cNvSpPr/>
          <p:nvPr/>
        </p:nvSpPr>
        <p:spPr>
          <a:xfrm>
            <a:off x="1047750" y="4569222"/>
            <a:ext cx="12573000" cy="9707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48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2"/>
          <p:cNvSpPr/>
          <p:nvPr/>
        </p:nvSpPr>
        <p:spPr>
          <a:xfrm>
            <a:off x="1047750" y="5825728"/>
            <a:ext cx="1026795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The DataFrame — a spreadsheet you control with code.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4" name="Google Shape;50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22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2"/>
          <p:cNvSpPr/>
          <p:nvPr/>
        </p:nvSpPr>
        <p:spPr>
          <a:xfrm>
            <a:off x="14338995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2"/>
          <p:cNvSpPr/>
          <p:nvPr/>
        </p:nvSpPr>
        <p:spPr>
          <a:xfrm>
            <a:off x="17032486" y="9674225"/>
            <a:ext cx="283964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3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3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Anatomy of a DataFrame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3"/>
          <p:cNvSpPr/>
          <p:nvPr/>
        </p:nvSpPr>
        <p:spPr>
          <a:xfrm>
            <a:off x="1047750" y="2110680"/>
            <a:ext cx="130968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Named </a:t>
            </a:r>
            <a:r>
              <a:rPr b="1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columns</a:t>
            </a: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rows</a:t>
            </a: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, and an automatic </a:t>
            </a:r>
            <a:r>
              <a:rPr b="1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. One column on its own is a </a:t>
            </a:r>
            <a:r>
              <a:rPr b="1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Series</a:t>
            </a: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3"/>
          <p:cNvSpPr/>
          <p:nvPr/>
        </p:nvSpPr>
        <p:spPr>
          <a:xfrm>
            <a:off x="1047750" y="4782741"/>
            <a:ext cx="8763000" cy="2698750"/>
          </a:xfrm>
          <a:prstGeom prst="roundRect">
            <a:avLst>
              <a:gd fmla="val 635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3"/>
          <p:cNvSpPr/>
          <p:nvPr/>
        </p:nvSpPr>
        <p:spPr>
          <a:xfrm>
            <a:off x="2057400" y="5201841"/>
            <a:ext cx="249092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district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3"/>
          <p:cNvSpPr/>
          <p:nvPr/>
        </p:nvSpPr>
        <p:spPr>
          <a:xfrm>
            <a:off x="4697710" y="5201841"/>
            <a:ext cx="2879466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3"/>
          <p:cNvSpPr/>
          <p:nvPr/>
        </p:nvSpPr>
        <p:spPr>
          <a:xfrm>
            <a:off x="7715250" y="5201841"/>
            <a:ext cx="173355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literacy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3"/>
          <p:cNvSpPr/>
          <p:nvPr/>
        </p:nvSpPr>
        <p:spPr>
          <a:xfrm>
            <a:off x="1371600" y="5576491"/>
            <a:ext cx="571500" cy="539750"/>
          </a:xfrm>
          <a:custGeom>
            <a:rect b="b" l="l" r="r" t="t"/>
            <a:pathLst>
              <a:path extrusionOk="0" h="539750" w="571500">
                <a:moveTo>
                  <a:pt x="76200" y="0"/>
                </a:moveTo>
                <a:lnTo>
                  <a:pt x="571500" y="0"/>
                </a:lnTo>
                <a:lnTo>
                  <a:pt x="571500" y="539750"/>
                </a:lnTo>
                <a:lnTo>
                  <a:pt x="76200" y="539750"/>
                </a:lnTo>
                <a:cubicBezTo>
                  <a:pt x="34116" y="539750"/>
                  <a:pt x="0" y="505634"/>
                  <a:pt x="0" y="463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4EB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3"/>
          <p:cNvSpPr/>
          <p:nvPr/>
        </p:nvSpPr>
        <p:spPr>
          <a:xfrm>
            <a:off x="1485900" y="5709841"/>
            <a:ext cx="419100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3"/>
          <p:cNvSpPr/>
          <p:nvPr/>
        </p:nvSpPr>
        <p:spPr>
          <a:xfrm>
            <a:off x="1943100" y="5576491"/>
            <a:ext cx="2640310" cy="539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3"/>
          <p:cNvSpPr/>
          <p:nvPr/>
        </p:nvSpPr>
        <p:spPr>
          <a:xfrm>
            <a:off x="2057400" y="5709841"/>
            <a:ext cx="2490920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4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A4A42"/>
                </a:solidFill>
                <a:latin typeface="Arial"/>
                <a:ea typeface="Arial"/>
                <a:cs typeface="Arial"/>
                <a:sym typeface="Arial"/>
              </a:rPr>
              <a:t>Pune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3"/>
          <p:cNvSpPr/>
          <p:nvPr/>
        </p:nvSpPr>
        <p:spPr>
          <a:xfrm>
            <a:off x="4583410" y="5576491"/>
            <a:ext cx="3017540" cy="539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3"/>
          <p:cNvSpPr/>
          <p:nvPr/>
        </p:nvSpPr>
        <p:spPr>
          <a:xfrm>
            <a:off x="4697710" y="5709841"/>
            <a:ext cx="2879466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4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A4A42"/>
                </a:solidFill>
                <a:latin typeface="Arial"/>
                <a:ea typeface="Arial"/>
                <a:cs typeface="Arial"/>
                <a:sym typeface="Arial"/>
              </a:rPr>
              <a:t>Maharashtra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3"/>
          <p:cNvSpPr/>
          <p:nvPr/>
        </p:nvSpPr>
        <p:spPr>
          <a:xfrm>
            <a:off x="7600950" y="5576491"/>
            <a:ext cx="1885950" cy="539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3"/>
          <p:cNvSpPr/>
          <p:nvPr/>
        </p:nvSpPr>
        <p:spPr>
          <a:xfrm>
            <a:off x="7715250" y="5709841"/>
            <a:ext cx="1733550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4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A4A42"/>
                </a:solidFill>
                <a:latin typeface="Arial"/>
                <a:ea typeface="Arial"/>
                <a:cs typeface="Arial"/>
                <a:sym typeface="Arial"/>
              </a:rPr>
              <a:t>87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3"/>
          <p:cNvSpPr/>
          <p:nvPr/>
        </p:nvSpPr>
        <p:spPr>
          <a:xfrm>
            <a:off x="1371600" y="6116241"/>
            <a:ext cx="571500" cy="539750"/>
          </a:xfrm>
          <a:custGeom>
            <a:rect b="b" l="l" r="r" t="t"/>
            <a:pathLst>
              <a:path extrusionOk="0" h="539750" w="571500">
                <a:moveTo>
                  <a:pt x="76200" y="0"/>
                </a:moveTo>
                <a:lnTo>
                  <a:pt x="571500" y="0"/>
                </a:lnTo>
                <a:lnTo>
                  <a:pt x="571500" y="539750"/>
                </a:lnTo>
                <a:lnTo>
                  <a:pt x="76200" y="539750"/>
                </a:lnTo>
                <a:cubicBezTo>
                  <a:pt x="34116" y="539750"/>
                  <a:pt x="0" y="505634"/>
                  <a:pt x="0" y="463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4EB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3"/>
          <p:cNvSpPr/>
          <p:nvPr/>
        </p:nvSpPr>
        <p:spPr>
          <a:xfrm>
            <a:off x="1485900" y="6249591"/>
            <a:ext cx="419100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3"/>
          <p:cNvSpPr/>
          <p:nvPr/>
        </p:nvSpPr>
        <p:spPr>
          <a:xfrm>
            <a:off x="2057400" y="6249591"/>
            <a:ext cx="2490920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4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A4A42"/>
                </a:solidFill>
                <a:latin typeface="Arial"/>
                <a:ea typeface="Arial"/>
                <a:cs typeface="Arial"/>
                <a:sym typeface="Arial"/>
              </a:rPr>
              <a:t>Lucknow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3"/>
          <p:cNvSpPr/>
          <p:nvPr/>
        </p:nvSpPr>
        <p:spPr>
          <a:xfrm>
            <a:off x="4697710" y="6249591"/>
            <a:ext cx="2879466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4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A4A42"/>
                </a:solidFill>
                <a:latin typeface="Arial"/>
                <a:ea typeface="Arial"/>
                <a:cs typeface="Arial"/>
                <a:sym typeface="Arial"/>
              </a:rPr>
              <a:t>Uttar Pradesh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3"/>
          <p:cNvSpPr/>
          <p:nvPr/>
        </p:nvSpPr>
        <p:spPr>
          <a:xfrm>
            <a:off x="7715250" y="6249591"/>
            <a:ext cx="1733550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4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A4A42"/>
                </a:solidFill>
                <a:latin typeface="Arial"/>
                <a:ea typeface="Arial"/>
                <a:cs typeface="Arial"/>
                <a:sym typeface="Arial"/>
              </a:rPr>
              <a:t>77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3"/>
          <p:cNvSpPr/>
          <p:nvPr/>
        </p:nvSpPr>
        <p:spPr>
          <a:xfrm>
            <a:off x="1371600" y="6655991"/>
            <a:ext cx="571500" cy="539750"/>
          </a:xfrm>
          <a:custGeom>
            <a:rect b="b" l="l" r="r" t="t"/>
            <a:pathLst>
              <a:path extrusionOk="0" h="539750" w="571500">
                <a:moveTo>
                  <a:pt x="76200" y="0"/>
                </a:moveTo>
                <a:lnTo>
                  <a:pt x="571500" y="0"/>
                </a:lnTo>
                <a:lnTo>
                  <a:pt x="571500" y="539750"/>
                </a:lnTo>
                <a:lnTo>
                  <a:pt x="76200" y="539750"/>
                </a:lnTo>
                <a:cubicBezTo>
                  <a:pt x="34116" y="539750"/>
                  <a:pt x="0" y="505634"/>
                  <a:pt x="0" y="463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4EB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3"/>
          <p:cNvSpPr/>
          <p:nvPr/>
        </p:nvSpPr>
        <p:spPr>
          <a:xfrm>
            <a:off x="1485900" y="6789341"/>
            <a:ext cx="419100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3"/>
          <p:cNvSpPr/>
          <p:nvPr/>
        </p:nvSpPr>
        <p:spPr>
          <a:xfrm>
            <a:off x="1943100" y="6655991"/>
            <a:ext cx="2640310" cy="539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3"/>
          <p:cNvSpPr/>
          <p:nvPr/>
        </p:nvSpPr>
        <p:spPr>
          <a:xfrm>
            <a:off x="2057400" y="6789341"/>
            <a:ext cx="2490920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4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A4A42"/>
                </a:solidFill>
                <a:latin typeface="Arial"/>
                <a:ea typeface="Arial"/>
                <a:cs typeface="Arial"/>
                <a:sym typeface="Arial"/>
              </a:rPr>
              <a:t>Ernakulam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3"/>
          <p:cNvSpPr/>
          <p:nvPr/>
        </p:nvSpPr>
        <p:spPr>
          <a:xfrm>
            <a:off x="4583410" y="6655991"/>
            <a:ext cx="3017540" cy="539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3"/>
          <p:cNvSpPr/>
          <p:nvPr/>
        </p:nvSpPr>
        <p:spPr>
          <a:xfrm>
            <a:off x="4697710" y="6789341"/>
            <a:ext cx="2879466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4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A4A42"/>
                </a:solidFill>
                <a:latin typeface="Arial"/>
                <a:ea typeface="Arial"/>
                <a:cs typeface="Arial"/>
                <a:sym typeface="Arial"/>
              </a:rPr>
              <a:t>Kerala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3"/>
          <p:cNvSpPr/>
          <p:nvPr/>
        </p:nvSpPr>
        <p:spPr>
          <a:xfrm>
            <a:off x="7600950" y="6655991"/>
            <a:ext cx="1885950" cy="539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3"/>
          <p:cNvSpPr/>
          <p:nvPr/>
        </p:nvSpPr>
        <p:spPr>
          <a:xfrm>
            <a:off x="7715250" y="6789341"/>
            <a:ext cx="1733550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4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A4A42"/>
                </a:solidFill>
                <a:latin typeface="Arial"/>
                <a:ea typeface="Arial"/>
                <a:cs typeface="Arial"/>
                <a:sym typeface="Arial"/>
              </a:rPr>
              <a:t>95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3"/>
          <p:cNvSpPr/>
          <p:nvPr/>
        </p:nvSpPr>
        <p:spPr>
          <a:xfrm>
            <a:off x="10229850" y="4340324"/>
            <a:ext cx="7010400" cy="1097161"/>
          </a:xfrm>
          <a:prstGeom prst="roundRect">
            <a:avLst>
              <a:gd fmla="val 13890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3"/>
          <p:cNvSpPr/>
          <p:nvPr/>
        </p:nvSpPr>
        <p:spPr>
          <a:xfrm>
            <a:off x="10515600" y="4568924"/>
            <a:ext cx="6649212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pandas 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pd df = pd.</a:t>
            </a:r>
            <a:r>
              <a:rPr b="0" i="0" lang="en-US" sz="157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DataFrame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({...})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3"/>
          <p:cNvSpPr/>
          <p:nvPr/>
        </p:nvSpPr>
        <p:spPr>
          <a:xfrm>
            <a:off x="10229850" y="5589886"/>
            <a:ext cx="7010400" cy="674291"/>
          </a:xfrm>
          <a:prstGeom prst="roundRect">
            <a:avLst>
              <a:gd fmla="val 19776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3"/>
          <p:cNvSpPr/>
          <p:nvPr/>
        </p:nvSpPr>
        <p:spPr>
          <a:xfrm>
            <a:off x="10496550" y="5780386"/>
            <a:ext cx="7124700" cy="3313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Columns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— named fields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3"/>
          <p:cNvSpPr/>
          <p:nvPr/>
        </p:nvSpPr>
        <p:spPr>
          <a:xfrm>
            <a:off x="10229850" y="6416576"/>
            <a:ext cx="7010400" cy="674291"/>
          </a:xfrm>
          <a:prstGeom prst="roundRect">
            <a:avLst>
              <a:gd fmla="val 19776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3"/>
          <p:cNvSpPr/>
          <p:nvPr/>
        </p:nvSpPr>
        <p:spPr>
          <a:xfrm>
            <a:off x="10496550" y="6607076"/>
            <a:ext cx="7124700" cy="3313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Index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— the bold 0,1,2 Pandas adds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3"/>
          <p:cNvSpPr/>
          <p:nvPr/>
        </p:nvSpPr>
        <p:spPr>
          <a:xfrm>
            <a:off x="10229850" y="7243267"/>
            <a:ext cx="7010400" cy="680641"/>
          </a:xfrm>
          <a:prstGeom prst="roundRect">
            <a:avLst>
              <a:gd fmla="val 19592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3"/>
          <p:cNvSpPr/>
          <p:nvPr/>
        </p:nvSpPr>
        <p:spPr>
          <a:xfrm>
            <a:off x="10496550" y="7433767"/>
            <a:ext cx="7124700" cy="337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df["district"] </a:t>
            </a: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→ one column = a </a:t>
            </a:r>
            <a:r>
              <a:rPr b="1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Series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9" name="Google Shape;5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23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3"/>
          <p:cNvSpPr/>
          <p:nvPr/>
        </p:nvSpPr>
        <p:spPr>
          <a:xfrm>
            <a:off x="14336217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3"/>
          <p:cNvSpPr/>
          <p:nvPr/>
        </p:nvSpPr>
        <p:spPr>
          <a:xfrm>
            <a:off x="17029708" y="9674225"/>
            <a:ext cx="286742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4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PANDAS · LOADING DATA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4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One line to load, five to explore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4"/>
          <p:cNvSpPr/>
          <p:nvPr/>
        </p:nvSpPr>
        <p:spPr>
          <a:xfrm>
            <a:off x="1047750" y="2110680"/>
            <a:ext cx="130968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Census exports, election results and budget tables all arrive as CSVs.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4"/>
          <p:cNvSpPr/>
          <p:nvPr/>
        </p:nvSpPr>
        <p:spPr>
          <a:xfrm>
            <a:off x="1047750" y="2815530"/>
            <a:ext cx="16192500" cy="762000"/>
          </a:xfrm>
          <a:prstGeom prst="roundRect">
            <a:avLst>
              <a:gd fmla="val 20000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4"/>
          <p:cNvSpPr/>
          <p:nvPr/>
        </p:nvSpPr>
        <p:spPr>
          <a:xfrm>
            <a:off x="1371600" y="3044130"/>
            <a:ext cx="160305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 = pd.</a:t>
            </a:r>
            <a:r>
              <a:rPr b="0" i="0" lang="en-US" sz="180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read_csv</a:t>
            </a:r>
            <a:r>
              <a:rPr b="0" i="0" lang="en-US" sz="18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"districts.csv"</a:t>
            </a:r>
            <a:r>
              <a:rPr b="0" i="0" lang="en-US" sz="18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the whole file, in one line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4"/>
          <p:cNvSpPr/>
          <p:nvPr/>
        </p:nvSpPr>
        <p:spPr>
          <a:xfrm>
            <a:off x="1047750" y="3825180"/>
            <a:ext cx="5257800" cy="2700635"/>
          </a:xfrm>
          <a:prstGeom prst="roundRect">
            <a:avLst>
              <a:gd fmla="val 564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4"/>
          <p:cNvSpPr/>
          <p:nvPr/>
        </p:nvSpPr>
        <p:spPr>
          <a:xfrm>
            <a:off x="1333500" y="4072830"/>
            <a:ext cx="51549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Courier New"/>
              <a:buNone/>
            </a:pPr>
            <a:r>
              <a:rPr b="1" i="0" lang="en-US" sz="1725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head() · tail()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4"/>
          <p:cNvSpPr/>
          <p:nvPr/>
        </p:nvSpPr>
        <p:spPr>
          <a:xfrm>
            <a:off x="1333500" y="4396680"/>
            <a:ext cx="5154930" cy="30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Preview the first / last rows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4"/>
          <p:cNvSpPr/>
          <p:nvPr/>
        </p:nvSpPr>
        <p:spPr>
          <a:xfrm>
            <a:off x="6515100" y="3825180"/>
            <a:ext cx="5257800" cy="2700635"/>
          </a:xfrm>
          <a:prstGeom prst="roundRect">
            <a:avLst>
              <a:gd fmla="val 564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4"/>
          <p:cNvSpPr/>
          <p:nvPr/>
        </p:nvSpPr>
        <p:spPr>
          <a:xfrm>
            <a:off x="6800850" y="4072830"/>
            <a:ext cx="51549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Courier New"/>
              <a:buNone/>
            </a:pPr>
            <a:r>
              <a:rPr b="1" i="0" lang="en-US" sz="1725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shape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4"/>
          <p:cNvSpPr/>
          <p:nvPr/>
        </p:nvSpPr>
        <p:spPr>
          <a:xfrm>
            <a:off x="6800850" y="4396680"/>
            <a:ext cx="5154930" cy="3144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(rows, columns) — an </a:t>
            </a:r>
            <a:r>
              <a:rPr b="1" i="0" lang="en-US" sz="157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attribute</a:t>
            </a:r>
            <a:r>
              <a:rPr b="0" i="0" lang="en-US" sz="157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, no ()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11982450" y="3825180"/>
            <a:ext cx="5257800" cy="2700635"/>
          </a:xfrm>
          <a:prstGeom prst="roundRect">
            <a:avLst>
              <a:gd fmla="val 564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4"/>
          <p:cNvSpPr/>
          <p:nvPr/>
        </p:nvSpPr>
        <p:spPr>
          <a:xfrm>
            <a:off x="12268200" y="4072830"/>
            <a:ext cx="51549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Courier New"/>
              <a:buNone/>
            </a:pPr>
            <a:r>
              <a:rPr b="1" i="0" lang="en-US" sz="1725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columns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4"/>
          <p:cNvSpPr/>
          <p:nvPr/>
        </p:nvSpPr>
        <p:spPr>
          <a:xfrm>
            <a:off x="12268200" y="4396680"/>
            <a:ext cx="5154930" cy="30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The column names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4"/>
          <p:cNvSpPr/>
          <p:nvPr/>
        </p:nvSpPr>
        <p:spPr>
          <a:xfrm>
            <a:off x="1047750" y="6735366"/>
            <a:ext cx="5257800" cy="2694384"/>
          </a:xfrm>
          <a:prstGeom prst="roundRect">
            <a:avLst>
              <a:gd fmla="val 5656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4"/>
          <p:cNvSpPr/>
          <p:nvPr/>
        </p:nvSpPr>
        <p:spPr>
          <a:xfrm>
            <a:off x="1333500" y="6983016"/>
            <a:ext cx="51549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Courier New"/>
              <a:buNone/>
            </a:pPr>
            <a:r>
              <a:rPr b="1" i="0" lang="en-US" sz="1725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info()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4"/>
          <p:cNvSpPr/>
          <p:nvPr/>
        </p:nvSpPr>
        <p:spPr>
          <a:xfrm>
            <a:off x="1333500" y="7306866"/>
            <a:ext cx="5154930" cy="30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Health check — types &amp; missing data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4"/>
          <p:cNvSpPr/>
          <p:nvPr/>
        </p:nvSpPr>
        <p:spPr>
          <a:xfrm>
            <a:off x="6515100" y="6735366"/>
            <a:ext cx="5257800" cy="2694384"/>
          </a:xfrm>
          <a:prstGeom prst="roundRect">
            <a:avLst>
              <a:gd fmla="val 5656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4"/>
          <p:cNvSpPr/>
          <p:nvPr/>
        </p:nvSpPr>
        <p:spPr>
          <a:xfrm>
            <a:off x="6800850" y="6983016"/>
            <a:ext cx="51549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Courier New"/>
              <a:buNone/>
            </a:pPr>
            <a:r>
              <a:rPr b="1" i="0" lang="en-US" sz="1725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describe()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4"/>
          <p:cNvSpPr/>
          <p:nvPr/>
        </p:nvSpPr>
        <p:spPr>
          <a:xfrm>
            <a:off x="6800850" y="7306866"/>
            <a:ext cx="5154930" cy="30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Quick stats on numeric columns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4"/>
          <p:cNvSpPr/>
          <p:nvPr/>
        </p:nvSpPr>
        <p:spPr>
          <a:xfrm>
            <a:off x="11982450" y="6735366"/>
            <a:ext cx="5257800" cy="2694384"/>
          </a:xfrm>
          <a:prstGeom prst="roundRect">
            <a:avLst>
              <a:gd fmla="val 5656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4"/>
          <p:cNvSpPr/>
          <p:nvPr/>
        </p:nvSpPr>
        <p:spPr>
          <a:xfrm>
            <a:off x="11982450" y="6735366"/>
            <a:ext cx="57150" cy="2694384"/>
          </a:xfrm>
          <a:prstGeom prst="rect">
            <a:avLst/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4"/>
          <p:cNvSpPr/>
          <p:nvPr/>
        </p:nvSpPr>
        <p:spPr>
          <a:xfrm>
            <a:off x="12325350" y="6983016"/>
            <a:ext cx="509206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Make it a reflex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4"/>
          <p:cNvSpPr/>
          <p:nvPr/>
        </p:nvSpPr>
        <p:spPr>
          <a:xfrm>
            <a:off x="12325350" y="7306866"/>
            <a:ext cx="5092065" cy="30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head → info → describe, the moment data lands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2" name="Google Shape;58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24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4"/>
          <p:cNvSpPr/>
          <p:nvPr/>
        </p:nvSpPr>
        <p:spPr>
          <a:xfrm>
            <a:off x="14336217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4"/>
          <p:cNvSpPr/>
          <p:nvPr/>
        </p:nvSpPr>
        <p:spPr>
          <a:xfrm>
            <a:off x="17029708" y="9674225"/>
            <a:ext cx="286742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5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PANDAS · ANSWERING QUESTIONS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5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Pick a column, ask a question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5"/>
          <p:cNvSpPr/>
          <p:nvPr/>
        </p:nvSpPr>
        <p:spPr>
          <a:xfrm>
            <a:off x="1047750" y="4450953"/>
            <a:ext cx="8262243" cy="2847975"/>
          </a:xfrm>
          <a:prstGeom prst="roundRect">
            <a:avLst>
              <a:gd fmla="val 6020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5"/>
          <p:cNvSpPr/>
          <p:nvPr/>
        </p:nvSpPr>
        <p:spPr>
          <a:xfrm>
            <a:off x="1447800" y="4774803"/>
            <a:ext cx="7710011" cy="2238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6081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"literacy_rate"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6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mean 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endParaRPr b="0" i="0" sz="1650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6081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"literacy_rate"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6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max 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endParaRPr b="0" i="0" sz="1650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6081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"budget_crore"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6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min 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endParaRPr b="0" i="0" sz="1650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6081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df[[</a:t>
            </a: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"district"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"budget_crore"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]] </a:t>
            </a:r>
            <a:endParaRPr b="0" i="0" sz="1650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6081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double brackets → mini table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5"/>
          <p:cNvSpPr/>
          <p:nvPr/>
        </p:nvSpPr>
        <p:spPr>
          <a:xfrm>
            <a:off x="9729093" y="4152900"/>
            <a:ext cx="7511157" cy="1041400"/>
          </a:xfrm>
          <a:prstGeom prst="roundRect">
            <a:avLst>
              <a:gd fmla="val 14634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5"/>
          <p:cNvSpPr/>
          <p:nvPr/>
        </p:nvSpPr>
        <p:spPr>
          <a:xfrm>
            <a:off x="10033893" y="4381500"/>
            <a:ext cx="75917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Single bracket → Series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5"/>
          <p:cNvSpPr/>
          <p:nvPr/>
        </p:nvSpPr>
        <p:spPr>
          <a:xfrm>
            <a:off x="10033893" y="4705350"/>
            <a:ext cx="7591713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42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3A4A42"/>
                </a:solidFill>
                <a:latin typeface="Courier New"/>
                <a:ea typeface="Courier New"/>
                <a:cs typeface="Courier New"/>
                <a:sym typeface="Courier New"/>
              </a:rPr>
              <a:t>df["district"]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5"/>
          <p:cNvSpPr/>
          <p:nvPr/>
        </p:nvSpPr>
        <p:spPr>
          <a:xfrm>
            <a:off x="9729093" y="5365750"/>
            <a:ext cx="7511157" cy="1041400"/>
          </a:xfrm>
          <a:prstGeom prst="roundRect">
            <a:avLst>
              <a:gd fmla="val 14634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5"/>
          <p:cNvSpPr/>
          <p:nvPr/>
        </p:nvSpPr>
        <p:spPr>
          <a:xfrm>
            <a:off x="10033893" y="5594350"/>
            <a:ext cx="75917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Double bracket → DataFrame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5"/>
          <p:cNvSpPr/>
          <p:nvPr/>
        </p:nvSpPr>
        <p:spPr>
          <a:xfrm>
            <a:off x="10033893" y="5918200"/>
            <a:ext cx="7591713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42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3A4A42"/>
                </a:solidFill>
                <a:latin typeface="Courier New"/>
                <a:ea typeface="Courier New"/>
                <a:cs typeface="Courier New"/>
                <a:sym typeface="Courier New"/>
              </a:rPr>
              <a:t>df[["district", "state"]]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5"/>
          <p:cNvSpPr/>
          <p:nvPr/>
        </p:nvSpPr>
        <p:spPr>
          <a:xfrm>
            <a:off x="9729093" y="6578600"/>
            <a:ext cx="7511157" cy="1018381"/>
          </a:xfrm>
          <a:prstGeom prst="roundRect">
            <a:avLst>
              <a:gd fmla="val 14965" name="adj"/>
            </a:avLst>
          </a:prstGeom>
          <a:solidFill>
            <a:srgbClr val="FB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5"/>
          <p:cNvSpPr/>
          <p:nvPr/>
        </p:nvSpPr>
        <p:spPr>
          <a:xfrm>
            <a:off x="9729093" y="6578600"/>
            <a:ext cx="57150" cy="1018381"/>
          </a:xfrm>
          <a:prstGeom prst="rect">
            <a:avLst/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5"/>
          <p:cNvSpPr/>
          <p:nvPr/>
        </p:nvSpPr>
        <p:spPr>
          <a:xfrm>
            <a:off x="10091043" y="6788150"/>
            <a:ext cx="7049739" cy="637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Common mistake: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df["a", "b"]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errors — use a list: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df[["a", "b"]]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4" name="Google Shape;60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25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5"/>
          <p:cNvSpPr/>
          <p:nvPr/>
        </p:nvSpPr>
        <p:spPr>
          <a:xfrm>
            <a:off x="14332248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5"/>
          <p:cNvSpPr/>
          <p:nvPr/>
        </p:nvSpPr>
        <p:spPr>
          <a:xfrm>
            <a:off x="17025740" y="9674225"/>
            <a:ext cx="29071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EE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6"/>
          <p:cNvSpPr/>
          <p:nvPr/>
        </p:nvSpPr>
        <p:spPr>
          <a:xfrm>
            <a:off x="1047750" y="914400"/>
            <a:ext cx="3268167" cy="425450"/>
          </a:xfrm>
          <a:prstGeom prst="roundRect">
            <a:avLst>
              <a:gd fmla="val 50000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6"/>
          <p:cNvSpPr/>
          <p:nvPr/>
        </p:nvSpPr>
        <p:spPr>
          <a:xfrm>
            <a:off x="1257300" y="1009650"/>
            <a:ext cx="2947111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THINK BEFORE YOU CODE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6"/>
          <p:cNvSpPr/>
          <p:nvPr/>
        </p:nvSpPr>
        <p:spPr>
          <a:xfrm>
            <a:off x="1047750" y="1587500"/>
            <a:ext cx="17811750" cy="6681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22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What does </a:t>
            </a:r>
            <a:r>
              <a:rPr b="1" i="0" lang="en-US" sz="43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df.shape </a:t>
            </a:r>
            <a:r>
              <a:rPr b="1" i="0" lang="en-US" sz="43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print?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6"/>
          <p:cNvSpPr/>
          <p:nvPr/>
        </p:nvSpPr>
        <p:spPr>
          <a:xfrm>
            <a:off x="1047750" y="2369939"/>
            <a:ext cx="17811750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The DataFrame has 10 districts and 5 columns.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6"/>
          <p:cNvSpPr/>
          <p:nvPr/>
        </p:nvSpPr>
        <p:spPr>
          <a:xfrm>
            <a:off x="1047750" y="5021957"/>
            <a:ext cx="8436868" cy="2486025"/>
          </a:xfrm>
          <a:prstGeom prst="roundRect">
            <a:avLst>
              <a:gd fmla="val 6897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6"/>
          <p:cNvSpPr/>
          <p:nvPr/>
        </p:nvSpPr>
        <p:spPr>
          <a:xfrm>
            <a:off x="1485900" y="5383907"/>
            <a:ext cx="7813674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5179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 = pd.</a:t>
            </a:r>
            <a:r>
              <a:rPr b="0" i="0" lang="en-US" sz="187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read_csv</a:t>
            </a:r>
            <a:r>
              <a:rPr b="0" i="0" lang="en-US" sz="18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"districts.csv"</a:t>
            </a:r>
            <a:r>
              <a:rPr b="0" i="0" lang="en-US" sz="18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75" u="none" cap="none" strike="noStrik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10 rows, 5 columns </a:t>
            </a:r>
            <a:r>
              <a:rPr b="0" i="0" lang="en-US" sz="187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(df.shape)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6"/>
          <p:cNvSpPr/>
          <p:nvPr/>
        </p:nvSpPr>
        <p:spPr>
          <a:xfrm>
            <a:off x="9903719" y="4763095"/>
            <a:ext cx="7336433" cy="1562299"/>
          </a:xfrm>
          <a:prstGeom prst="roundRect">
            <a:avLst>
              <a:gd fmla="val 1097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6"/>
          <p:cNvSpPr/>
          <p:nvPr/>
        </p:nvSpPr>
        <p:spPr>
          <a:xfrm>
            <a:off x="10246619" y="5048845"/>
            <a:ext cx="7315696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Trace it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6"/>
          <p:cNvSpPr/>
          <p:nvPr/>
        </p:nvSpPr>
        <p:spPr>
          <a:xfrm>
            <a:off x="10246619" y="5398096"/>
            <a:ext cx="6850152" cy="6796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269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shape </a:t>
            </a: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is an </a:t>
            </a:r>
            <a:r>
              <a:rPr b="1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attribute </a:t>
            </a: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→ a </a:t>
            </a:r>
            <a:r>
              <a:rPr b="0" i="0" lang="en-US" sz="1725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(rows, columns) </a:t>
            </a: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tuple, no parentheses.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6"/>
          <p:cNvSpPr/>
          <p:nvPr/>
        </p:nvSpPr>
        <p:spPr>
          <a:xfrm>
            <a:off x="9903719" y="6515894"/>
            <a:ext cx="7336433" cy="1250950"/>
          </a:xfrm>
          <a:prstGeom prst="roundRect">
            <a:avLst>
              <a:gd fmla="val 1370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6"/>
          <p:cNvSpPr/>
          <p:nvPr/>
        </p:nvSpPr>
        <p:spPr>
          <a:xfrm>
            <a:off x="10246619" y="6801644"/>
            <a:ext cx="7315696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Reveal on click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6"/>
          <p:cNvSpPr/>
          <p:nvPr/>
        </p:nvSpPr>
        <p:spPr>
          <a:xfrm>
            <a:off x="10246619" y="7150894"/>
            <a:ext cx="7315696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→ (10, 5)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5" name="Google Shape;62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26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6"/>
          <p:cNvSpPr/>
          <p:nvPr/>
        </p:nvSpPr>
        <p:spPr>
          <a:xfrm>
            <a:off x="14328974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6"/>
          <p:cNvSpPr/>
          <p:nvPr/>
        </p:nvSpPr>
        <p:spPr>
          <a:xfrm>
            <a:off x="17022466" y="9674225"/>
            <a:ext cx="29398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EE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7"/>
          <p:cNvSpPr/>
          <p:nvPr/>
        </p:nvSpPr>
        <p:spPr>
          <a:xfrm>
            <a:off x="14287500" y="-1524000"/>
            <a:ext cx="5334000" cy="5334000"/>
          </a:xfrm>
          <a:prstGeom prst="ellipse">
            <a:avLst/>
          </a:prstGeom>
          <a:solidFill>
            <a:srgbClr val="CE4A32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7"/>
          <p:cNvSpPr/>
          <p:nvPr/>
        </p:nvSpPr>
        <p:spPr>
          <a:xfrm>
            <a:off x="1047750" y="3096419"/>
            <a:ext cx="2436713" cy="533400"/>
          </a:xfrm>
          <a:prstGeom prst="roundRect">
            <a:avLst>
              <a:gd fmla="val 50000" name="adj"/>
            </a:avLst>
          </a:prstGeom>
          <a:solidFill>
            <a:srgbClr val="CE4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7"/>
          <p:cNvSpPr/>
          <p:nvPr/>
        </p:nvSpPr>
        <p:spPr>
          <a:xfrm>
            <a:off x="1295400" y="3296444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7"/>
          <p:cNvSpPr/>
          <p:nvPr/>
        </p:nvSpPr>
        <p:spPr>
          <a:xfrm>
            <a:off x="1562100" y="3229769"/>
            <a:ext cx="1750913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CODING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7"/>
          <p:cNvSpPr/>
          <p:nvPr/>
        </p:nvSpPr>
        <p:spPr>
          <a:xfrm>
            <a:off x="1047750" y="3972719"/>
            <a:ext cx="17811750" cy="931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528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6900"/>
              <a:buFont typeface="Arial"/>
              <a:buNone/>
            </a:pPr>
            <a:r>
              <a:rPr b="1" i="0" lang="en-US" sz="69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Switch to Google Colab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7"/>
          <p:cNvSpPr/>
          <p:nvPr/>
        </p:nvSpPr>
        <p:spPr>
          <a:xfrm>
            <a:off x="1047750" y="5285581"/>
            <a:ext cx="8093968" cy="882650"/>
          </a:xfrm>
          <a:prstGeom prst="roundRect">
            <a:avLst>
              <a:gd fmla="val 19424" name="adj"/>
            </a:avLst>
          </a:prstGeom>
          <a:solidFill>
            <a:srgbClr val="FFFFFF"/>
          </a:solidFill>
          <a:ln cap="flat" cmpd="sng" w="9525">
            <a:solidFill>
              <a:srgbClr val="DCE6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7"/>
          <p:cNvSpPr/>
          <p:nvPr/>
        </p:nvSpPr>
        <p:spPr>
          <a:xfrm>
            <a:off x="1377950" y="5587207"/>
            <a:ext cx="2779157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Notebook Sections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7"/>
          <p:cNvSpPr/>
          <p:nvPr/>
        </p:nvSpPr>
        <p:spPr>
          <a:xfrm>
            <a:off x="4094956" y="5564981"/>
            <a:ext cx="19050" cy="323850"/>
          </a:xfrm>
          <a:prstGeom prst="rect">
            <a:avLst/>
          </a:prstGeom>
          <a:solidFill>
            <a:srgbClr val="C9D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7"/>
          <p:cNvSpPr/>
          <p:nvPr/>
        </p:nvSpPr>
        <p:spPr>
          <a:xfrm>
            <a:off x="4304506" y="5539582"/>
            <a:ext cx="4957713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Pandas · read_csv · explore · select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7"/>
          <p:cNvSpPr/>
          <p:nvPr/>
        </p:nvSpPr>
        <p:spPr>
          <a:xfrm>
            <a:off x="1047750" y="6492082"/>
            <a:ext cx="10595610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Read the CSV, run head / info / describe, compute a column's average, and select columns.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4" name="Google Shape;64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27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7"/>
          <p:cNvSpPr/>
          <p:nvPr/>
        </p:nvSpPr>
        <p:spPr>
          <a:xfrm>
            <a:off x="14349314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7"/>
          <p:cNvSpPr/>
          <p:nvPr/>
        </p:nvSpPr>
        <p:spPr>
          <a:xfrm>
            <a:off x="17042805" y="9674225"/>
            <a:ext cx="27364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8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BRINGING IT TOGETHER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8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Objects in, DataFrame out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8"/>
          <p:cNvSpPr/>
          <p:nvPr/>
        </p:nvSpPr>
        <p:spPr>
          <a:xfrm>
            <a:off x="1047750" y="2320230"/>
            <a:ext cx="4927600" cy="1079500"/>
          </a:xfrm>
          <a:prstGeom prst="roundRect">
            <a:avLst>
              <a:gd fmla="val 15882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8"/>
          <p:cNvSpPr/>
          <p:nvPr/>
        </p:nvSpPr>
        <p:spPr>
          <a:xfrm>
            <a:off x="1136650" y="2567880"/>
            <a:ext cx="474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Build objects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8"/>
          <p:cNvSpPr/>
          <p:nvPr/>
        </p:nvSpPr>
        <p:spPr>
          <a:xfrm>
            <a:off x="1136650" y="2891730"/>
            <a:ext cx="4749800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DistrictData(...) × 4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8"/>
          <p:cNvSpPr/>
          <p:nvPr/>
        </p:nvSpPr>
        <p:spPr>
          <a:xfrm>
            <a:off x="6165850" y="2647256"/>
            <a:ext cx="40005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8"/>
          <p:cNvSpPr/>
          <p:nvPr/>
        </p:nvSpPr>
        <p:spPr>
          <a:xfrm>
            <a:off x="6680200" y="2320230"/>
            <a:ext cx="4927600" cy="1079500"/>
          </a:xfrm>
          <a:prstGeom prst="roundRect">
            <a:avLst>
              <a:gd fmla="val 15882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8"/>
          <p:cNvSpPr/>
          <p:nvPr/>
        </p:nvSpPr>
        <p:spPr>
          <a:xfrm>
            <a:off x="6769100" y="2567880"/>
            <a:ext cx="474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Each → a dict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8"/>
          <p:cNvSpPr/>
          <p:nvPr/>
        </p:nvSpPr>
        <p:spPr>
          <a:xfrm>
            <a:off x="6769100" y="2891730"/>
            <a:ext cx="4749800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of its attributes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8"/>
          <p:cNvSpPr/>
          <p:nvPr/>
        </p:nvSpPr>
        <p:spPr>
          <a:xfrm>
            <a:off x="11798301" y="2647256"/>
            <a:ext cx="40005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8"/>
          <p:cNvSpPr/>
          <p:nvPr/>
        </p:nvSpPr>
        <p:spPr>
          <a:xfrm>
            <a:off x="12312651" y="2320230"/>
            <a:ext cx="4927600" cy="1079500"/>
          </a:xfrm>
          <a:prstGeom prst="roundRect">
            <a:avLst>
              <a:gd fmla="val 15882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8"/>
          <p:cNvSpPr/>
          <p:nvPr/>
        </p:nvSpPr>
        <p:spPr>
          <a:xfrm>
            <a:off x="12401551" y="2567880"/>
            <a:ext cx="474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DataFrame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8"/>
          <p:cNvSpPr/>
          <p:nvPr/>
        </p:nvSpPr>
        <p:spPr>
          <a:xfrm>
            <a:off x="12401551" y="2891730"/>
            <a:ext cx="4749800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object = one row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8"/>
          <p:cNvSpPr/>
          <p:nvPr/>
        </p:nvSpPr>
        <p:spPr>
          <a:xfrm>
            <a:off x="1047750" y="5062736"/>
            <a:ext cx="8436868" cy="2989759"/>
          </a:xfrm>
          <a:prstGeom prst="roundRect">
            <a:avLst>
              <a:gd fmla="val 5735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8"/>
          <p:cNvSpPr/>
          <p:nvPr/>
        </p:nvSpPr>
        <p:spPr>
          <a:xfrm>
            <a:off x="1428750" y="5367536"/>
            <a:ext cx="7927974" cy="2418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rows = [] 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 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districts: </a:t>
            </a:r>
            <a:endParaRPr b="0" i="0" sz="157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rows.</a:t>
            </a:r>
            <a:r>
              <a:rPr b="0" i="0" lang="en-US" sz="157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append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: d.name, 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"budget" 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: d.budget_crore}) df = pd.</a:t>
            </a:r>
            <a:r>
              <a:rPr b="0" i="0" lang="en-US" sz="157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DataFrame 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(rows) </a:t>
            </a:r>
            <a:endParaRPr b="0" i="0" sz="1575" u="none" cap="none" strike="noStrik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b="0" i="0" lang="en-US" sz="15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"budget"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57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mean</a:t>
            </a:r>
            <a:r>
              <a:rPr b="0" i="0" lang="en-US" sz="15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8"/>
          <p:cNvSpPr/>
          <p:nvPr/>
        </p:nvSpPr>
        <p:spPr>
          <a:xfrm>
            <a:off x="9903719" y="5693966"/>
            <a:ext cx="7336433" cy="1727200"/>
          </a:xfrm>
          <a:prstGeom prst="roundRect">
            <a:avLst>
              <a:gd fmla="val 9926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8"/>
          <p:cNvSpPr/>
          <p:nvPr/>
        </p:nvSpPr>
        <p:spPr>
          <a:xfrm>
            <a:off x="9903719" y="5693966"/>
            <a:ext cx="57150" cy="1727200"/>
          </a:xfrm>
          <a:prstGeom prst="rect">
            <a:avLst/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8"/>
          <p:cNvSpPr/>
          <p:nvPr/>
        </p:nvSpPr>
        <p:spPr>
          <a:xfrm>
            <a:off x="10341869" y="6017816"/>
            <a:ext cx="7169011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This is real analytics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8"/>
          <p:cNvSpPr/>
          <p:nvPr/>
        </p:nvSpPr>
        <p:spPr>
          <a:xfrm>
            <a:off x="10341869" y="6411516"/>
            <a:ext cx="671280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Model your "things" as classes, collect many into a DataFrame, and let Pandas summarise them all at once.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2" name="Google Shape;67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28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8"/>
          <p:cNvSpPr/>
          <p:nvPr/>
        </p:nvSpPr>
        <p:spPr>
          <a:xfrm>
            <a:off x="14335720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8"/>
          <p:cNvSpPr/>
          <p:nvPr/>
        </p:nvSpPr>
        <p:spPr>
          <a:xfrm>
            <a:off x="17029212" y="9674225"/>
            <a:ext cx="287238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9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WATCH OUT FOR THESE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9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Common beginner mistakes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9"/>
          <p:cNvSpPr/>
          <p:nvPr/>
        </p:nvSpPr>
        <p:spPr>
          <a:xfrm>
            <a:off x="1047750" y="2377380"/>
            <a:ext cx="8001000" cy="2223790"/>
          </a:xfrm>
          <a:prstGeom prst="roundRect">
            <a:avLst>
              <a:gd fmla="val 685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9"/>
          <p:cNvSpPr/>
          <p:nvPr/>
        </p:nvSpPr>
        <p:spPr>
          <a:xfrm>
            <a:off x="1333500" y="3317776"/>
            <a:ext cx="2785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✗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9"/>
          <p:cNvSpPr/>
          <p:nvPr/>
        </p:nvSpPr>
        <p:spPr>
          <a:xfrm>
            <a:off x="1707257" y="3225701"/>
            <a:ext cx="4357003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Missing </a:t>
            </a:r>
            <a:r>
              <a:rPr b="1" i="0" lang="en-US" sz="1725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9"/>
          <p:cNvSpPr/>
          <p:nvPr/>
        </p:nvSpPr>
        <p:spPr>
          <a:xfrm>
            <a:off x="1707257" y="3505101"/>
            <a:ext cx="435700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Must be the first parameter of every method.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9"/>
          <p:cNvSpPr/>
          <p:nvPr/>
        </p:nvSpPr>
        <p:spPr>
          <a:xfrm>
            <a:off x="9239250" y="2377380"/>
            <a:ext cx="8001000" cy="2223790"/>
          </a:xfrm>
          <a:prstGeom prst="roundRect">
            <a:avLst>
              <a:gd fmla="val 685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9"/>
          <p:cNvSpPr/>
          <p:nvPr/>
        </p:nvSpPr>
        <p:spPr>
          <a:xfrm>
            <a:off x="9525000" y="3317776"/>
            <a:ext cx="2785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✗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9"/>
          <p:cNvSpPr/>
          <p:nvPr/>
        </p:nvSpPr>
        <p:spPr>
          <a:xfrm>
            <a:off x="9898757" y="3225701"/>
            <a:ext cx="4253429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Method without </a:t>
            </a:r>
            <a:r>
              <a:rPr b="1" i="0" lang="en-US" sz="1725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9"/>
          <p:cNvSpPr/>
          <p:nvPr/>
        </p:nvSpPr>
        <p:spPr>
          <a:xfrm>
            <a:off x="9898757" y="3505101"/>
            <a:ext cx="425342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obj.display </a:t>
            </a:r>
            <a:r>
              <a:rPr b="0" i="0" lang="en-US" sz="15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refers; </a:t>
            </a:r>
            <a:r>
              <a:rPr b="0" i="0" lang="en-US" sz="150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obj.display() </a:t>
            </a:r>
            <a:r>
              <a:rPr b="0" i="0" lang="en-US" sz="15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runs.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9"/>
          <p:cNvSpPr/>
          <p:nvPr/>
        </p:nvSpPr>
        <p:spPr>
          <a:xfrm>
            <a:off x="1047750" y="4791670"/>
            <a:ext cx="8001000" cy="2223790"/>
          </a:xfrm>
          <a:prstGeom prst="roundRect">
            <a:avLst>
              <a:gd fmla="val 685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9"/>
          <p:cNvSpPr/>
          <p:nvPr/>
        </p:nvSpPr>
        <p:spPr>
          <a:xfrm>
            <a:off x="1333500" y="5732066"/>
            <a:ext cx="2785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✗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9"/>
          <p:cNvSpPr/>
          <p:nvPr/>
        </p:nvSpPr>
        <p:spPr>
          <a:xfrm>
            <a:off x="1707257" y="5639991"/>
            <a:ext cx="4337685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Forgetting </a:t>
            </a:r>
            <a:r>
              <a:rPr b="1" i="0" lang="en-US" sz="1725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self.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9"/>
          <p:cNvSpPr/>
          <p:nvPr/>
        </p:nvSpPr>
        <p:spPr>
          <a:xfrm>
            <a:off x="1707257" y="5919391"/>
            <a:ext cx="433768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name = name </a:t>
            </a:r>
            <a:r>
              <a:rPr b="0" i="0" lang="en-US" sz="15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vanishes when __init__ ends.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9"/>
          <p:cNvSpPr/>
          <p:nvPr/>
        </p:nvSpPr>
        <p:spPr>
          <a:xfrm>
            <a:off x="9239250" y="4791670"/>
            <a:ext cx="8001000" cy="2223790"/>
          </a:xfrm>
          <a:prstGeom prst="roundRect">
            <a:avLst>
              <a:gd fmla="val 685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9"/>
          <p:cNvSpPr/>
          <p:nvPr/>
        </p:nvSpPr>
        <p:spPr>
          <a:xfrm>
            <a:off x="9525000" y="5732066"/>
            <a:ext cx="2785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✗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9"/>
          <p:cNvSpPr/>
          <p:nvPr/>
        </p:nvSpPr>
        <p:spPr>
          <a:xfrm>
            <a:off x="9898757" y="5646341"/>
            <a:ext cx="496109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Wrong import alias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9"/>
          <p:cNvSpPr/>
          <p:nvPr/>
        </p:nvSpPr>
        <p:spPr>
          <a:xfrm>
            <a:off x="9898757" y="5913041"/>
            <a:ext cx="496109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Imported as </a:t>
            </a:r>
            <a:r>
              <a:rPr b="0" i="0" lang="en-US" sz="150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b="0" i="0" lang="en-US" sz="15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? Use </a:t>
            </a:r>
            <a:r>
              <a:rPr b="0" i="0" lang="en-US" sz="150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np.array</a:t>
            </a:r>
            <a:r>
              <a:rPr b="0" i="0" lang="en-US" sz="15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, not </a:t>
            </a:r>
            <a:r>
              <a:rPr b="0" i="0" lang="en-US" sz="150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numpy.array</a:t>
            </a:r>
            <a:r>
              <a:rPr b="0" i="0" lang="en-US" sz="15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9"/>
          <p:cNvSpPr/>
          <p:nvPr/>
        </p:nvSpPr>
        <p:spPr>
          <a:xfrm>
            <a:off x="1047750" y="7205960"/>
            <a:ext cx="8001000" cy="2223790"/>
          </a:xfrm>
          <a:prstGeom prst="roundRect">
            <a:avLst>
              <a:gd fmla="val 685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9"/>
          <p:cNvSpPr/>
          <p:nvPr/>
        </p:nvSpPr>
        <p:spPr>
          <a:xfrm>
            <a:off x="1333500" y="8146356"/>
            <a:ext cx="2785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✗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9"/>
          <p:cNvSpPr/>
          <p:nvPr/>
        </p:nvSpPr>
        <p:spPr>
          <a:xfrm>
            <a:off x="1707257" y="8060631"/>
            <a:ext cx="469064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List maths like an array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9"/>
          <p:cNvSpPr/>
          <p:nvPr/>
        </p:nvSpPr>
        <p:spPr>
          <a:xfrm>
            <a:off x="1707257" y="8327331"/>
            <a:ext cx="469064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list * 2 </a:t>
            </a:r>
            <a:r>
              <a:rPr b="0" i="0" lang="en-US" sz="15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repeats; put numbers in an array first.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9"/>
          <p:cNvSpPr/>
          <p:nvPr/>
        </p:nvSpPr>
        <p:spPr>
          <a:xfrm>
            <a:off x="9239250" y="7205960"/>
            <a:ext cx="8001000" cy="2223790"/>
          </a:xfrm>
          <a:prstGeom prst="roundRect">
            <a:avLst>
              <a:gd fmla="val 685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9"/>
          <p:cNvSpPr/>
          <p:nvPr/>
        </p:nvSpPr>
        <p:spPr>
          <a:xfrm>
            <a:off x="9525000" y="8146356"/>
            <a:ext cx="2785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✗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9"/>
          <p:cNvSpPr/>
          <p:nvPr/>
        </p:nvSpPr>
        <p:spPr>
          <a:xfrm>
            <a:off x="9898757" y="8060631"/>
            <a:ext cx="432284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Single brackets for many columns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9"/>
          <p:cNvSpPr/>
          <p:nvPr/>
        </p:nvSpPr>
        <p:spPr>
          <a:xfrm>
            <a:off x="9898757" y="8327331"/>
            <a:ext cx="432284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df[["a","b"]] </a:t>
            </a:r>
            <a:r>
              <a:rPr b="0" i="0" lang="en-US" sz="15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— a list inside the brackets.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7" name="Google Shape;70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29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9"/>
          <p:cNvSpPr/>
          <p:nvPr/>
        </p:nvSpPr>
        <p:spPr>
          <a:xfrm>
            <a:off x="14330760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9"/>
          <p:cNvSpPr/>
          <p:nvPr/>
        </p:nvSpPr>
        <p:spPr>
          <a:xfrm>
            <a:off x="17024252" y="9674225"/>
            <a:ext cx="292199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0"/>
          <p:cNvSpPr/>
          <p:nvPr/>
        </p:nvSpPr>
        <p:spPr>
          <a:xfrm>
            <a:off x="1047750" y="914400"/>
            <a:ext cx="1482725" cy="425450"/>
          </a:xfrm>
          <a:prstGeom prst="roundRect">
            <a:avLst>
              <a:gd fmla="val 50000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0"/>
          <p:cNvSpPr/>
          <p:nvPr/>
        </p:nvSpPr>
        <p:spPr>
          <a:xfrm>
            <a:off x="1257300" y="1009650"/>
            <a:ext cx="1139825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MINI QUIZ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0"/>
          <p:cNvSpPr/>
          <p:nvPr/>
        </p:nvSpPr>
        <p:spPr>
          <a:xfrm>
            <a:off x="1047750" y="1568450"/>
            <a:ext cx="17811750" cy="6034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179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Answer before the reveal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0"/>
          <p:cNvSpPr/>
          <p:nvPr/>
        </p:nvSpPr>
        <p:spPr>
          <a:xfrm>
            <a:off x="1047750" y="2457649"/>
            <a:ext cx="7991475" cy="2184301"/>
          </a:xfrm>
          <a:prstGeom prst="roundRect">
            <a:avLst>
              <a:gd fmla="val 784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0"/>
          <p:cNvSpPr/>
          <p:nvPr/>
        </p:nvSpPr>
        <p:spPr>
          <a:xfrm>
            <a:off x="1390650" y="3216374"/>
            <a:ext cx="8036243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1. Which method runs automatically when an object is created?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0"/>
          <p:cNvSpPr/>
          <p:nvPr/>
        </p:nvSpPr>
        <p:spPr>
          <a:xfrm>
            <a:off x="1390650" y="3603724"/>
            <a:ext cx="8036243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→ __init__()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0"/>
          <p:cNvSpPr/>
          <p:nvPr/>
        </p:nvSpPr>
        <p:spPr>
          <a:xfrm>
            <a:off x="9248775" y="2457649"/>
            <a:ext cx="7991475" cy="2184301"/>
          </a:xfrm>
          <a:prstGeom prst="roundRect">
            <a:avLst>
              <a:gd fmla="val 784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0"/>
          <p:cNvSpPr/>
          <p:nvPr/>
        </p:nvSpPr>
        <p:spPr>
          <a:xfrm>
            <a:off x="9591675" y="3210024"/>
            <a:ext cx="80362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2. What does </a:t>
            </a:r>
            <a:r>
              <a:rPr b="1" i="0" lang="en-US" sz="1875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self </a:t>
            </a: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refer to inside a method?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0"/>
          <p:cNvSpPr/>
          <p:nvPr/>
        </p:nvSpPr>
        <p:spPr>
          <a:xfrm>
            <a:off x="9591675" y="3610074"/>
            <a:ext cx="8036243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→ this particular object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0"/>
          <p:cNvSpPr/>
          <p:nvPr/>
        </p:nvSpPr>
        <p:spPr>
          <a:xfrm>
            <a:off x="1047750" y="4851499"/>
            <a:ext cx="7991475" cy="2184301"/>
          </a:xfrm>
          <a:prstGeom prst="roundRect">
            <a:avLst>
              <a:gd fmla="val 784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30"/>
          <p:cNvSpPr/>
          <p:nvPr/>
        </p:nvSpPr>
        <p:spPr>
          <a:xfrm>
            <a:off x="1390650" y="5610225"/>
            <a:ext cx="8036243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3. The correct everyday Git order?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0"/>
          <p:cNvSpPr/>
          <p:nvPr/>
        </p:nvSpPr>
        <p:spPr>
          <a:xfrm>
            <a:off x="1390650" y="5997575"/>
            <a:ext cx="8036243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→ add → commit → push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0"/>
          <p:cNvSpPr/>
          <p:nvPr/>
        </p:nvSpPr>
        <p:spPr>
          <a:xfrm>
            <a:off x="9248775" y="4851499"/>
            <a:ext cx="7991475" cy="2184301"/>
          </a:xfrm>
          <a:prstGeom prst="roundRect">
            <a:avLst>
              <a:gd fmla="val 784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0"/>
          <p:cNvSpPr/>
          <p:nvPr/>
        </p:nvSpPr>
        <p:spPr>
          <a:xfrm>
            <a:off x="9591675" y="5603875"/>
            <a:ext cx="80362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4. What is </a:t>
            </a:r>
            <a:r>
              <a:rPr b="1" i="0" lang="en-US" sz="1875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np.array([70,76,88]) * 2</a:t>
            </a: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0"/>
          <p:cNvSpPr/>
          <p:nvPr/>
        </p:nvSpPr>
        <p:spPr>
          <a:xfrm>
            <a:off x="9591675" y="6003925"/>
            <a:ext cx="8036243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→ [140 152 176]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0"/>
          <p:cNvSpPr/>
          <p:nvPr/>
        </p:nvSpPr>
        <p:spPr>
          <a:xfrm>
            <a:off x="1047750" y="7245350"/>
            <a:ext cx="16192500" cy="2184400"/>
          </a:xfrm>
          <a:prstGeom prst="roundRect">
            <a:avLst>
              <a:gd fmla="val 7849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0"/>
          <p:cNvSpPr/>
          <p:nvPr/>
        </p:nvSpPr>
        <p:spPr>
          <a:xfrm>
            <a:off x="1390650" y="7997825"/>
            <a:ext cx="1705737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5. What does a DataFrame's </a:t>
            </a:r>
            <a:r>
              <a:rPr b="1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shape </a:t>
            </a: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give you?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0"/>
          <p:cNvSpPr/>
          <p:nvPr/>
        </p:nvSpPr>
        <p:spPr>
          <a:xfrm>
            <a:off x="1390650" y="8397875"/>
            <a:ext cx="1705737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→ a (rows, columns) tuple — an attribute, no parentheses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4" name="Google Shape;73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30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0"/>
          <p:cNvSpPr/>
          <p:nvPr/>
        </p:nvSpPr>
        <p:spPr>
          <a:xfrm>
            <a:off x="14315580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0"/>
          <p:cNvSpPr/>
          <p:nvPr/>
        </p:nvSpPr>
        <p:spPr>
          <a:xfrm>
            <a:off x="17009071" y="9674225"/>
            <a:ext cx="307380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1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BEFORE NEXT SESSION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1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Your homework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1"/>
          <p:cNvSpPr/>
          <p:nvPr/>
        </p:nvSpPr>
        <p:spPr>
          <a:xfrm>
            <a:off x="1047750" y="2377380"/>
            <a:ext cx="7981950" cy="2992735"/>
          </a:xfrm>
          <a:prstGeom prst="roundRect">
            <a:avLst>
              <a:gd fmla="val 6365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1"/>
          <p:cNvSpPr/>
          <p:nvPr/>
        </p:nvSpPr>
        <p:spPr>
          <a:xfrm>
            <a:off x="1409700" y="2682180"/>
            <a:ext cx="798385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1"/>
          <p:cNvSpPr/>
          <p:nvPr/>
        </p:nvSpPr>
        <p:spPr>
          <a:xfrm>
            <a:off x="1409700" y="3044130"/>
            <a:ext cx="7983855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Refactor MP2 with a class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1"/>
          <p:cNvSpPr/>
          <p:nvPr/>
        </p:nvSpPr>
        <p:spPr>
          <a:xfrm>
            <a:off x="1409700" y="3399731"/>
            <a:ext cx="7475792" cy="6246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Turn your dictionary-based MP2 into a class with a constructor and one method.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1"/>
          <p:cNvSpPr/>
          <p:nvPr/>
        </p:nvSpPr>
        <p:spPr>
          <a:xfrm>
            <a:off x="9258300" y="2377380"/>
            <a:ext cx="7981950" cy="2992735"/>
          </a:xfrm>
          <a:prstGeom prst="roundRect">
            <a:avLst>
              <a:gd fmla="val 6365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1"/>
          <p:cNvSpPr/>
          <p:nvPr/>
        </p:nvSpPr>
        <p:spPr>
          <a:xfrm>
            <a:off x="9620250" y="2682180"/>
            <a:ext cx="798385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1"/>
          <p:cNvSpPr/>
          <p:nvPr/>
        </p:nvSpPr>
        <p:spPr>
          <a:xfrm>
            <a:off x="9620250" y="3044130"/>
            <a:ext cx="7983855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Install NumPy &amp; Pandas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1"/>
          <p:cNvSpPr/>
          <p:nvPr/>
        </p:nvSpPr>
        <p:spPr>
          <a:xfrm>
            <a:off x="9620250" y="3399731"/>
            <a:ext cx="7983855" cy="337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pip install numpy pandas</a:t>
            </a: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, then print their versions.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1"/>
          <p:cNvSpPr/>
          <p:nvPr/>
        </p:nvSpPr>
        <p:spPr>
          <a:xfrm>
            <a:off x="1047750" y="5598716"/>
            <a:ext cx="7981950" cy="2992834"/>
          </a:xfrm>
          <a:prstGeom prst="roundRect">
            <a:avLst>
              <a:gd fmla="val 6365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31"/>
          <p:cNvSpPr/>
          <p:nvPr/>
        </p:nvSpPr>
        <p:spPr>
          <a:xfrm>
            <a:off x="1409700" y="5903516"/>
            <a:ext cx="798385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1"/>
          <p:cNvSpPr/>
          <p:nvPr/>
        </p:nvSpPr>
        <p:spPr>
          <a:xfrm>
            <a:off x="1409700" y="6265466"/>
            <a:ext cx="7983855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Load a CSV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1"/>
          <p:cNvSpPr/>
          <p:nvPr/>
        </p:nvSpPr>
        <p:spPr>
          <a:xfrm>
            <a:off x="1409700" y="6621066"/>
            <a:ext cx="7475792" cy="631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Run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head / info / describe </a:t>
            </a:r>
            <a:r>
              <a:rPr b="0" i="0" lang="en-US" sz="16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and write two sentences on what you notice.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1"/>
          <p:cNvSpPr/>
          <p:nvPr/>
        </p:nvSpPr>
        <p:spPr>
          <a:xfrm>
            <a:off x="9258300" y="5598716"/>
            <a:ext cx="7981950" cy="2992834"/>
          </a:xfrm>
          <a:prstGeom prst="roundRect">
            <a:avLst>
              <a:gd fmla="val 6365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1"/>
          <p:cNvSpPr/>
          <p:nvPr/>
        </p:nvSpPr>
        <p:spPr>
          <a:xfrm>
            <a:off x="9620250" y="5903516"/>
            <a:ext cx="798385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1"/>
          <p:cNvSpPr/>
          <p:nvPr/>
        </p:nvSpPr>
        <p:spPr>
          <a:xfrm>
            <a:off x="9620250" y="6265466"/>
            <a:ext cx="7983855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Push a tidy Session-4 repo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1"/>
          <p:cNvSpPr/>
          <p:nvPr/>
        </p:nvSpPr>
        <p:spPr>
          <a:xfrm>
            <a:off x="9620250" y="6621066"/>
            <a:ext cx="7983855" cy="337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Notebook + </a:t>
            </a:r>
            <a:r>
              <a:rPr b="0" i="0" lang="en-US" sz="16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districts.csv </a:t>
            </a: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="0" i="0" lang="en-US" sz="16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README.md</a:t>
            </a: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clear commit messages.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1"/>
          <p:cNvSpPr/>
          <p:nvPr/>
        </p:nvSpPr>
        <p:spPr>
          <a:xfrm>
            <a:off x="1047750" y="8801100"/>
            <a:ext cx="16192500" cy="628650"/>
          </a:xfrm>
          <a:prstGeom prst="roundRect">
            <a:avLst>
              <a:gd fmla="val 21212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1"/>
          <p:cNvSpPr/>
          <p:nvPr/>
        </p:nvSpPr>
        <p:spPr>
          <a:xfrm>
            <a:off x="1371600" y="8972550"/>
            <a:ext cx="1603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47564E"/>
                </a:solidFill>
                <a:highlight>
                  <a:srgbClr val="EAF3EE"/>
                </a:highlight>
                <a:latin typeface="Arial"/>
                <a:ea typeface="Arial"/>
                <a:cs typeface="Arial"/>
                <a:sym typeface="Arial"/>
              </a:rPr>
              <a:t>Do it in a fresh notebook and finish with </a:t>
            </a:r>
            <a:r>
              <a:rPr b="1" i="0" lang="en-US" sz="17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Restart &amp; Run All </a:t>
            </a:r>
            <a:r>
              <a:rPr b="0" i="0" lang="en-US" sz="1725" u="none" cap="none" strike="noStrike">
                <a:solidFill>
                  <a:srgbClr val="47564E"/>
                </a:solidFill>
                <a:highlight>
                  <a:srgbClr val="EAF3EE"/>
                </a:highlight>
                <a:latin typeface="Arial"/>
                <a:ea typeface="Arial"/>
                <a:cs typeface="Arial"/>
                <a:sym typeface="Arial"/>
              </a:rPr>
              <a:t>— if it runs clean top to bottom, you're ready for Session 5.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3" name="Google Shape;76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31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1"/>
          <p:cNvSpPr/>
          <p:nvPr/>
        </p:nvSpPr>
        <p:spPr>
          <a:xfrm>
            <a:off x="14387612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1"/>
          <p:cNvSpPr/>
          <p:nvPr/>
        </p:nvSpPr>
        <p:spPr>
          <a:xfrm>
            <a:off x="17081104" y="9674225"/>
            <a:ext cx="235347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2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LOOK HOW FAR YOU CAME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2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Session summary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2"/>
          <p:cNvSpPr/>
          <p:nvPr/>
        </p:nvSpPr>
        <p:spPr>
          <a:xfrm>
            <a:off x="1047750" y="2377380"/>
            <a:ext cx="7991475" cy="2853035"/>
          </a:xfrm>
          <a:prstGeom prst="roundRect">
            <a:avLst>
              <a:gd fmla="val 600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2"/>
          <p:cNvSpPr/>
          <p:nvPr/>
        </p:nvSpPr>
        <p:spPr>
          <a:xfrm>
            <a:off x="1409700" y="3613349"/>
            <a:ext cx="381000" cy="381000"/>
          </a:xfrm>
          <a:prstGeom prst="ellipse">
            <a:avLst/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2"/>
          <p:cNvSpPr/>
          <p:nvPr/>
        </p:nvSpPr>
        <p:spPr>
          <a:xfrm>
            <a:off x="1371600" y="3613349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2"/>
          <p:cNvSpPr/>
          <p:nvPr/>
        </p:nvSpPr>
        <p:spPr>
          <a:xfrm>
            <a:off x="1981200" y="3630315"/>
            <a:ext cx="5271929" cy="3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3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Modelled real things as classes &amp; objects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2"/>
          <p:cNvSpPr/>
          <p:nvPr/>
        </p:nvSpPr>
        <p:spPr>
          <a:xfrm>
            <a:off x="9248775" y="2377380"/>
            <a:ext cx="7991475" cy="2853035"/>
          </a:xfrm>
          <a:prstGeom prst="roundRect">
            <a:avLst>
              <a:gd fmla="val 600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2"/>
          <p:cNvSpPr/>
          <p:nvPr/>
        </p:nvSpPr>
        <p:spPr>
          <a:xfrm>
            <a:off x="9610725" y="3613349"/>
            <a:ext cx="381000" cy="381000"/>
          </a:xfrm>
          <a:prstGeom prst="ellipse">
            <a:avLst/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2"/>
          <p:cNvSpPr/>
          <p:nvPr/>
        </p:nvSpPr>
        <p:spPr>
          <a:xfrm>
            <a:off x="9572625" y="3613349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2"/>
          <p:cNvSpPr/>
          <p:nvPr/>
        </p:nvSpPr>
        <p:spPr>
          <a:xfrm>
            <a:off x="10182225" y="3630315"/>
            <a:ext cx="5830183" cy="3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3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Used pip, notebooks &amp; Git → commit → push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2"/>
          <p:cNvSpPr/>
          <p:nvPr/>
        </p:nvSpPr>
        <p:spPr>
          <a:xfrm>
            <a:off x="1047750" y="5439966"/>
            <a:ext cx="7991475" cy="2853135"/>
          </a:xfrm>
          <a:prstGeom prst="roundRect">
            <a:avLst>
              <a:gd fmla="val 600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2"/>
          <p:cNvSpPr/>
          <p:nvPr/>
        </p:nvSpPr>
        <p:spPr>
          <a:xfrm>
            <a:off x="1409700" y="6676033"/>
            <a:ext cx="381000" cy="381000"/>
          </a:xfrm>
          <a:prstGeom prst="ellipse">
            <a:avLst/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2"/>
          <p:cNvSpPr/>
          <p:nvPr/>
        </p:nvSpPr>
        <p:spPr>
          <a:xfrm>
            <a:off x="1371600" y="6676033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2"/>
          <p:cNvSpPr/>
          <p:nvPr/>
        </p:nvSpPr>
        <p:spPr>
          <a:xfrm>
            <a:off x="1981200" y="6692900"/>
            <a:ext cx="5798860" cy="3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3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Did fast, vectorized maths with NumPy arrays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2"/>
          <p:cNvSpPr/>
          <p:nvPr/>
        </p:nvSpPr>
        <p:spPr>
          <a:xfrm>
            <a:off x="9248775" y="5439966"/>
            <a:ext cx="7991475" cy="2853135"/>
          </a:xfrm>
          <a:prstGeom prst="roundRect">
            <a:avLst>
              <a:gd fmla="val 600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32"/>
          <p:cNvSpPr/>
          <p:nvPr/>
        </p:nvSpPr>
        <p:spPr>
          <a:xfrm>
            <a:off x="9610725" y="6676033"/>
            <a:ext cx="381000" cy="381000"/>
          </a:xfrm>
          <a:prstGeom prst="ellipse">
            <a:avLst/>
          </a:prstGeom>
          <a:solidFill>
            <a:srgbClr val="1F9D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32"/>
          <p:cNvSpPr/>
          <p:nvPr/>
        </p:nvSpPr>
        <p:spPr>
          <a:xfrm>
            <a:off x="9572625" y="6676033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2"/>
          <p:cNvSpPr/>
          <p:nvPr/>
        </p:nvSpPr>
        <p:spPr>
          <a:xfrm>
            <a:off x="10182225" y="6692900"/>
            <a:ext cx="4889391" cy="3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3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Loaded &amp; explored a CSV with Pandas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2"/>
          <p:cNvSpPr/>
          <p:nvPr/>
        </p:nvSpPr>
        <p:spPr>
          <a:xfrm>
            <a:off x="1047750" y="8502650"/>
            <a:ext cx="16192500" cy="927100"/>
          </a:xfrm>
          <a:prstGeom prst="roundRect">
            <a:avLst>
              <a:gd fmla="val 18493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32"/>
          <p:cNvSpPr/>
          <p:nvPr/>
        </p:nvSpPr>
        <p:spPr>
          <a:xfrm>
            <a:off x="1185863" y="8788400"/>
            <a:ext cx="15916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highlight>
                  <a:srgbClr val="0C2E1E"/>
                </a:highlight>
                <a:latin typeface="Arial"/>
                <a:ea typeface="Arial"/>
                <a:cs typeface="Arial"/>
                <a:sym typeface="Arial"/>
              </a:rPr>
              <a:t>You built objects and analysed them with a DataFrame. </a:t>
            </a:r>
            <a:r>
              <a:rPr b="0" i="0" lang="en-US" sz="2175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That's real data work.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2" name="Google Shape;79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32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2"/>
          <p:cNvSpPr/>
          <p:nvPr/>
        </p:nvSpPr>
        <p:spPr>
          <a:xfrm>
            <a:off x="14336217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2"/>
          <p:cNvSpPr/>
          <p:nvPr/>
        </p:nvSpPr>
        <p:spPr>
          <a:xfrm>
            <a:off x="17029708" y="9674225"/>
            <a:ext cx="286742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4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33"/>
          <p:cNvSpPr/>
          <p:nvPr/>
        </p:nvSpPr>
        <p:spPr>
          <a:xfrm>
            <a:off x="14097000" y="6477000"/>
            <a:ext cx="5715000" cy="5715000"/>
          </a:xfrm>
          <a:prstGeom prst="ellipse">
            <a:avLst/>
          </a:prstGeom>
          <a:solidFill>
            <a:srgbClr val="CE4A32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2" name="Google Shape;80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533400"/>
            <a:ext cx="1582936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33"/>
          <p:cNvSpPr/>
          <p:nvPr/>
        </p:nvSpPr>
        <p:spPr>
          <a:xfrm>
            <a:off x="1047750" y="3057624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NEXT UP · SESSION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3"/>
          <p:cNvSpPr/>
          <p:nvPr/>
        </p:nvSpPr>
        <p:spPr>
          <a:xfrm>
            <a:off x="1047750" y="3591024"/>
            <a:ext cx="13096875" cy="9014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4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From Data to Insight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3"/>
          <p:cNvSpPr/>
          <p:nvPr/>
        </p:nvSpPr>
        <p:spPr>
          <a:xfrm>
            <a:off x="1047750" y="4759127"/>
            <a:ext cx="1098804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Now that your data lives in a DataFrame, make it talk — filter, group, spot patterns, and draw your first charts.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3"/>
          <p:cNvSpPr/>
          <p:nvPr/>
        </p:nvSpPr>
        <p:spPr>
          <a:xfrm>
            <a:off x="1047750" y="5978327"/>
            <a:ext cx="1927721" cy="565150"/>
          </a:xfrm>
          <a:prstGeom prst="roundRect">
            <a:avLst>
              <a:gd fmla="val 50000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33"/>
          <p:cNvSpPr/>
          <p:nvPr/>
        </p:nvSpPr>
        <p:spPr>
          <a:xfrm>
            <a:off x="1314450" y="6111677"/>
            <a:ext cx="1470521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Filtering rows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3"/>
          <p:cNvSpPr/>
          <p:nvPr/>
        </p:nvSpPr>
        <p:spPr>
          <a:xfrm>
            <a:off x="3127871" y="5978327"/>
            <a:ext cx="3136503" cy="565150"/>
          </a:xfrm>
          <a:prstGeom prst="roundRect">
            <a:avLst>
              <a:gd fmla="val 50000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33"/>
          <p:cNvSpPr/>
          <p:nvPr/>
        </p:nvSpPr>
        <p:spPr>
          <a:xfrm>
            <a:off x="3394571" y="6111677"/>
            <a:ext cx="269719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Grouping &amp; summarising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3"/>
          <p:cNvSpPr/>
          <p:nvPr/>
        </p:nvSpPr>
        <p:spPr>
          <a:xfrm>
            <a:off x="6416775" y="5978327"/>
            <a:ext cx="2336899" cy="565150"/>
          </a:xfrm>
          <a:prstGeom prst="roundRect">
            <a:avLst>
              <a:gd fmla="val 50000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33"/>
          <p:cNvSpPr/>
          <p:nvPr/>
        </p:nvSpPr>
        <p:spPr>
          <a:xfrm>
            <a:off x="6683475" y="6111677"/>
            <a:ext cx="1879699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Sorting &amp; ranking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3"/>
          <p:cNvSpPr/>
          <p:nvPr/>
        </p:nvSpPr>
        <p:spPr>
          <a:xfrm>
            <a:off x="8906074" y="5978327"/>
            <a:ext cx="2197001" cy="565150"/>
          </a:xfrm>
          <a:prstGeom prst="roundRect">
            <a:avLst>
              <a:gd fmla="val 50000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3"/>
          <p:cNvSpPr/>
          <p:nvPr/>
        </p:nvSpPr>
        <p:spPr>
          <a:xfrm>
            <a:off x="9172774" y="6111677"/>
            <a:ext cx="1739801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Your first charts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3"/>
          <p:cNvSpPr/>
          <p:nvPr/>
        </p:nvSpPr>
        <p:spPr>
          <a:xfrm>
            <a:off x="1047750" y="6962577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Pre-work: refactor MP2, push your Session-4 repo, and bring a dataset you care about.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5" name="Google Shape;81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33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3"/>
          <p:cNvSpPr/>
          <p:nvPr/>
        </p:nvSpPr>
        <p:spPr>
          <a:xfrm>
            <a:off x="14333538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3"/>
          <p:cNvSpPr/>
          <p:nvPr/>
        </p:nvSpPr>
        <p:spPr>
          <a:xfrm>
            <a:off x="17027029" y="9674225"/>
            <a:ext cx="28942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2026-07-21T14:15:08Z</dcterms:created>
  <dc:creator>PptxGenJS</dc:creator>
</cp:coreProperties>
</file>